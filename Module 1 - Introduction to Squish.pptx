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image" Target="../media/image-1-5.png"/><Relationship Id="rId6" Type="http://schemas.openxmlformats.org/officeDocument/2006/relationships/image" Target="../media/image-1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9.png"/><Relationship Id="rId10" Type="http://schemas.openxmlformats.org/officeDocument/2006/relationships/image" Target="../media/image-4-10.svg"/><Relationship Id="rId11" Type="http://schemas.openxmlformats.org/officeDocument/2006/relationships/image" Target="../media/image-4-11.png"/><Relationship Id="rId12" Type="http://schemas.openxmlformats.org/officeDocument/2006/relationships/image" Target="../media/image-4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image" Target="../media/image-5-9.png"/><Relationship Id="rId10" Type="http://schemas.openxmlformats.org/officeDocument/2006/relationships/image" Target="../media/image-5-10.svg"/><Relationship Id="rId11" Type="http://schemas.openxmlformats.org/officeDocument/2006/relationships/image" Target="../media/image-5-11.png"/><Relationship Id="rId12" Type="http://schemas.openxmlformats.org/officeDocument/2006/relationships/image" Target="../media/image-5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hyperlink" Target="https://doc.qt.io/squish/index.html" TargetMode="External"/><Relationship Id="rId2" Type="http://schemas.openxmlformats.org/officeDocument/2006/relationships/hyperlink" Target="https://doc.qt.io/squish/cli-squishrunner.html" TargetMode="External"/><Relationship Id="rId3" Type="http://schemas.openxmlformats.org/officeDocument/2006/relationships/hyperlink" Target="https://doc.qt.io/squish/cli-squishserver.html" TargetMode="External"/><Relationship Id="rId4" Type="http://schemas.openxmlformats.org/officeDocument/2006/relationships/hyperlink" Target="https://doc.qt.io/squish/test-suites-view.html" TargetMode="External"/><Relationship Id="rId5" Type="http://schemas.openxmlformats.org/officeDocument/2006/relationships/hyperlink" Target="https://doc.qt.io/squish/object-map.html" TargetMode="External"/><Relationship Id="rId6" Type="http://schemas.openxmlformats.org/officeDocument/2006/relationships/hyperlink" Target="https://doc.qt.io/squish/squish-for-web-tutorials.html" TargetMode="External"/><Relationship Id="rId7" Type="http://schemas.openxmlformats.org/officeDocument/2006/relationships/image" Target="../media/image-14-1.png"/><Relationship Id="rId8" Type="http://schemas.openxmlformats.org/officeDocument/2006/relationships/image" Target="../media/image-14-2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7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750040" y="457200"/>
            <a:ext cx="164592" cy="5029200"/>
          </a:xfrm>
          <a:prstGeom prst="rect">
            <a:avLst/>
          </a:prstGeom>
          <a:solidFill>
            <a:srgbClr val="00A6A6">
              <a:alpha val="82000"/>
            </a:srgbClr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5200" y="1051560"/>
            <a:ext cx="1874520" cy="187452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35440" y="2971800"/>
            <a:ext cx="1234440" cy="1234440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38160" y="4251960"/>
            <a:ext cx="1051560" cy="105156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685800" y="1417320"/>
            <a:ext cx="630936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Squish Fundamentals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&amp; GUI Automation</a:t>
            </a:r>
            <a:endParaRPr lang="en-US" sz="4000" dirty="0"/>
          </a:p>
        </p:txBody>
      </p:sp>
      <p:sp>
        <p:nvSpPr>
          <p:cNvPr id="8" name="Text 3"/>
          <p:cNvSpPr/>
          <p:nvPr/>
        </p:nvSpPr>
        <p:spPr>
          <a:xfrm>
            <a:off x="731520" y="2907792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D9E9F7"/>
                </a:solidFill>
              </a:rPr>
              <a:t>Beginner-friendly training deck covering core concepts, architecture, Squish IDE, Runner/Server, AUT and test suite structure.</a:t>
            </a:r>
            <a:endParaRPr lang="en-US" sz="1700" dirty="0"/>
          </a:p>
        </p:txBody>
      </p:sp>
      <p:sp>
        <p:nvSpPr>
          <p:cNvPr id="9" name="Shape 4"/>
          <p:cNvSpPr/>
          <p:nvPr/>
        </p:nvSpPr>
        <p:spPr>
          <a:xfrm>
            <a:off x="731520" y="3977640"/>
            <a:ext cx="1463040" cy="310896"/>
          </a:xfrm>
          <a:prstGeom prst="roundRect">
            <a:avLst>
              <a:gd name="adj" fmla="val 23529"/>
            </a:avLst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841248" y="4050792"/>
            <a:ext cx="12435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GUI Automation</a:t>
            </a:r>
            <a:endParaRPr lang="en-US" sz="850" dirty="0"/>
          </a:p>
        </p:txBody>
      </p:sp>
      <p:sp>
        <p:nvSpPr>
          <p:cNvPr id="11" name="Shape 6"/>
          <p:cNvSpPr/>
          <p:nvPr/>
        </p:nvSpPr>
        <p:spPr>
          <a:xfrm>
            <a:off x="2331720" y="3977640"/>
            <a:ext cx="1463040" cy="310896"/>
          </a:xfrm>
          <a:prstGeom prst="roundRect">
            <a:avLst>
              <a:gd name="adj" fmla="val 23529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2441448" y="4050792"/>
            <a:ext cx="12435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Record + Replay</a:t>
            </a:r>
            <a:endParaRPr lang="en-US" sz="850" dirty="0"/>
          </a:p>
        </p:txBody>
      </p:sp>
      <p:sp>
        <p:nvSpPr>
          <p:cNvPr id="13" name="Shape 8"/>
          <p:cNvSpPr/>
          <p:nvPr/>
        </p:nvSpPr>
        <p:spPr>
          <a:xfrm>
            <a:off x="3931920" y="3977640"/>
            <a:ext cx="1645920" cy="310896"/>
          </a:xfrm>
          <a:prstGeom prst="roundRect">
            <a:avLst>
              <a:gd name="adj" fmla="val 23529"/>
            </a:avLst>
          </a:prstGeom>
          <a:solidFill>
            <a:srgbClr val="69B34C"/>
          </a:solidFill>
          <a:ln w="12700">
            <a:solidFill>
              <a:srgbClr val="69B34C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4041648" y="4050792"/>
            <a:ext cx="14264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Python / JS / Ruby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7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this deck covers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30352" y="79552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77A"/>
                </a:solidFill>
              </a:rPr>
              <a:t>Training roadmap for Squish fundamentals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11064240" cy="0"/>
          </a:xfrm>
          <a:prstGeom prst="line">
            <a:avLst/>
          </a:prstGeom>
          <a:noFill/>
          <a:ln w="12700">
            <a:solidFill>
              <a:srgbClr val="B9CB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50876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A6A6"/>
                </a:solidFill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472184" y="1527048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742"/>
                </a:solidFill>
              </a:rPr>
              <a:t>What is Squish?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72184" y="189280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2677A"/>
                </a:solidFill>
              </a:rPr>
              <a:t>Why teams use it for GUI testing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85800" y="2331720"/>
            <a:ext cx="4846320" cy="0"/>
          </a:xfrm>
          <a:prstGeom prst="line">
            <a:avLst/>
          </a:prstGeom>
          <a:noFill/>
          <a:ln w="10160">
            <a:solidFill>
              <a:srgbClr val="B9CB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0" y="150876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A6A6"/>
                </a:solidFill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004304" y="1527048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742"/>
                </a:solidFill>
              </a:rPr>
              <a:t>Architecture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04304" y="189280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2677A"/>
                </a:solidFill>
              </a:rPr>
              <a:t>IDE, runner, server, AUT and reports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17920" y="2331720"/>
            <a:ext cx="4846320" cy="0"/>
          </a:xfrm>
          <a:prstGeom prst="line">
            <a:avLst/>
          </a:prstGeom>
          <a:noFill/>
          <a:ln w="10160">
            <a:solidFill>
              <a:srgbClr val="B9CB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92608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A6A6"/>
                </a:solidFill>
              </a:rPr>
              <a:t>03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472184" y="2944368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742"/>
                </a:solidFill>
              </a:rPr>
              <a:t>Features + Tech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72184" y="331012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2677A"/>
                </a:solidFill>
              </a:rPr>
              <a:t>Supported apps, languages and benefits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85800" y="3749040"/>
            <a:ext cx="4846320" cy="0"/>
          </a:xfrm>
          <a:prstGeom prst="line">
            <a:avLst/>
          </a:prstGeom>
          <a:noFill/>
          <a:ln w="10160">
            <a:solidFill>
              <a:srgbClr val="B9CB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292608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A6A6"/>
                </a:solidFill>
              </a:rPr>
              <a:t>04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004304" y="2944368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742"/>
                </a:solidFill>
              </a:rPr>
              <a:t>IDE / Runner / Server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004304" y="331012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2677A"/>
                </a:solidFill>
              </a:rPr>
              <a:t>How each tool is used in practice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217920" y="3749040"/>
            <a:ext cx="4846320" cy="0"/>
          </a:xfrm>
          <a:prstGeom prst="line">
            <a:avLst/>
          </a:prstGeom>
          <a:noFill/>
          <a:ln w="10160">
            <a:solidFill>
              <a:srgbClr val="B9CBD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434340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A6A6"/>
                </a:solidFill>
              </a:rPr>
              <a:t>05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472184" y="4361688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742"/>
                </a:solidFill>
              </a:rPr>
              <a:t>AUT + Test Suite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472184" y="472744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2677A"/>
                </a:solidFill>
              </a:rPr>
              <a:t>How projects are registered and organized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85800" y="5166360"/>
            <a:ext cx="4846320" cy="0"/>
          </a:xfrm>
          <a:prstGeom prst="line">
            <a:avLst/>
          </a:prstGeom>
          <a:noFill/>
          <a:ln w="10160">
            <a:solidFill>
              <a:srgbClr val="B9CBD9"/>
            </a:solidFill>
            <a:prstDash val="solid"/>
          </a:ln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052560" y="4709160"/>
            <a:ext cx="1143000" cy="114300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777240" y="559612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742"/>
                </a:solidFill>
              </a:rPr>
              <a:t>Goal: understand how a Squish GUI test is created, executed and maintained.</a:t>
            </a:r>
            <a:endParaRPr lang="en-US" sz="1700" dirty="0"/>
          </a:p>
        </p:txBody>
      </p:sp>
      <p:sp>
        <p:nvSpPr>
          <p:cNvPr id="28" name="Text 25"/>
          <p:cNvSpPr/>
          <p:nvPr/>
        </p:nvSpPr>
        <p:spPr>
          <a:xfrm>
            <a:off x="9692640" y="646480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2677A"/>
                </a:solidFill>
              </a:rPr>
              <a:t>Squish Fundamentals | 01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7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is Squish?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30352" y="79552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77A"/>
                </a:solidFill>
              </a:rPr>
              <a:t>Professional GUI test automation framework from Qt Group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11064240" cy="0"/>
          </a:xfrm>
          <a:prstGeom prst="line">
            <a:avLst/>
          </a:prstGeom>
          <a:noFill/>
          <a:ln w="12700">
            <a:solidFill>
              <a:srgbClr val="B9CBD9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7240" y="1325880"/>
            <a:ext cx="1280160" cy="12801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0" y="1481328"/>
            <a:ext cx="7680960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2742"/>
                </a:solidFill>
              </a:rPr>
              <a:t>Squish is used to automate GUI tests for desktop, web, mobile and embedded applications. It interacts with UI objects, performs user actions, and verifies results.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777240" y="3035808"/>
            <a:ext cx="51663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5240">
            <a:solidFill>
              <a:srgbClr val="00A6A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77240" y="3035808"/>
            <a:ext cx="109728" cy="123444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33272" y="3200400"/>
            <a:ext cx="4782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742"/>
                </a:solidFill>
              </a:rPr>
              <a:t>In simple words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33272" y="3538728"/>
            <a:ext cx="4782312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02A43"/>
                </a:solidFill>
              </a:rPr>
              <a:t>Squish behaves like a tester: it opens the application, clicks buttons, types data, checks screens, and reports pass/fail results.</a:t>
            </a:r>
            <a:endParaRPr lang="en-US" sz="1080" dirty="0"/>
          </a:p>
        </p:txBody>
      </p:sp>
      <p:sp>
        <p:nvSpPr>
          <p:cNvPr id="12" name="Shape 9"/>
          <p:cNvSpPr/>
          <p:nvPr/>
        </p:nvSpPr>
        <p:spPr>
          <a:xfrm>
            <a:off x="6263640" y="3035808"/>
            <a:ext cx="51663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5240">
            <a:solidFill>
              <a:srgbClr val="1E5B9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263640" y="3035808"/>
            <a:ext cx="109728" cy="1234440"/>
          </a:xfrm>
          <a:prstGeom prst="rect">
            <a:avLst/>
          </a:prstGeom>
          <a:solidFill>
            <a:srgbClr val="1E5B9A"/>
          </a:solidFill>
          <a:ln w="12700">
            <a:solidFill>
              <a:srgbClr val="1E5B9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19672" y="3200400"/>
            <a:ext cx="4782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742"/>
                </a:solidFill>
              </a:rPr>
              <a:t>Where it is useful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519672" y="3538728"/>
            <a:ext cx="4782312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02A43"/>
                </a:solidFill>
              </a:rPr>
              <a:t>Regression testing, smoke testing, release validation, CI/CD execution, repetitive manual GUI workflows, and cross-platform product testing.</a:t>
            </a:r>
            <a:endParaRPr lang="en-US" sz="1080" dirty="0"/>
          </a:p>
        </p:txBody>
      </p:sp>
      <p:sp>
        <p:nvSpPr>
          <p:cNvPr id="16" name="Text 13"/>
          <p:cNvSpPr/>
          <p:nvPr/>
        </p:nvSpPr>
        <p:spPr>
          <a:xfrm>
            <a:off x="914400" y="489204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02A43"/>
                </a:solidFill>
              </a:rPr>
              <a:t>Typical test example: launch app → login → navigate → perform action → verify expected value → logout → generate report.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1097280" y="5669280"/>
            <a:ext cx="9692640" cy="0"/>
          </a:xfrm>
          <a:prstGeom prst="line">
            <a:avLst/>
          </a:prstGeom>
          <a:noFill/>
          <a:ln w="17780">
            <a:solidFill>
              <a:srgbClr val="00A6A6"/>
            </a:solidFill>
            <a:prstDash val="solid"/>
            <a:headEnd type="none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1005840" y="5413248"/>
            <a:ext cx="502920" cy="502920"/>
          </a:xfrm>
          <a:prstGeom prst="ellipse">
            <a:avLst/>
          </a:prstGeom>
          <a:solidFill>
            <a:srgbClr val="00A6A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691640" y="553212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742"/>
                </a:solidFill>
              </a:rPr>
              <a:t>Launch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3794760" y="5413248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480560" y="553212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742"/>
                </a:solidFill>
              </a:rPr>
              <a:t>Action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583680" y="5413248"/>
            <a:ext cx="502920" cy="502920"/>
          </a:xfrm>
          <a:prstGeom prst="ellipse">
            <a:avLst/>
          </a:prstGeom>
          <a:solidFill>
            <a:srgbClr val="69B34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269480" y="553212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742"/>
                </a:solidFill>
              </a:rPr>
              <a:t>Verify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9372600" y="5413248"/>
            <a:ext cx="502920" cy="502920"/>
          </a:xfrm>
          <a:prstGeom prst="ellipse">
            <a:avLst/>
          </a:prstGeom>
          <a:solidFill>
            <a:srgbClr val="6956E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0058400" y="553212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742"/>
                </a:solidFill>
              </a:rPr>
              <a:t>Report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9692640" y="646480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2677A"/>
                </a:solidFill>
              </a:rPr>
              <a:t>Squish Fundamentals | 02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7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Squish architecture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30352" y="79552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77A"/>
                </a:solidFill>
              </a:rPr>
              <a:t>Core components and communication flow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11064240" cy="0"/>
          </a:xfrm>
          <a:prstGeom prst="line">
            <a:avLst/>
          </a:prstGeom>
          <a:noFill/>
          <a:ln w="12700">
            <a:solidFill>
              <a:srgbClr val="B9CB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0" y="2194560"/>
            <a:ext cx="1280160" cy="0"/>
          </a:xfrm>
          <a:prstGeom prst="line">
            <a:avLst/>
          </a:prstGeom>
          <a:noFill/>
          <a:ln w="17780">
            <a:solidFill>
              <a:srgbClr val="00A6A6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5303520" y="2194560"/>
            <a:ext cx="1280160" cy="0"/>
          </a:xfrm>
          <a:prstGeom prst="line">
            <a:avLst/>
          </a:prstGeom>
          <a:noFill/>
          <a:ln w="17780">
            <a:solidFill>
              <a:srgbClr val="00A6A6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8046720" y="2194560"/>
            <a:ext cx="1280160" cy="0"/>
          </a:xfrm>
          <a:prstGeom prst="line">
            <a:avLst/>
          </a:prstGeom>
          <a:noFill/>
          <a:ln w="17780">
            <a:solidFill>
              <a:srgbClr val="00A6A6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7132320" y="2926080"/>
            <a:ext cx="-1005840" cy="1298448"/>
          </a:xfrm>
          <a:prstGeom prst="line">
            <a:avLst/>
          </a:prstGeom>
          <a:noFill/>
          <a:ln w="17780">
            <a:solidFill>
              <a:srgbClr val="F59E0B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206240" y="2926080"/>
            <a:ext cx="0" cy="1298448"/>
          </a:xfrm>
          <a:prstGeom prst="line">
            <a:avLst/>
          </a:prstGeom>
          <a:noFill/>
          <a:ln w="17780">
            <a:solidFill>
              <a:srgbClr val="F59E0B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85800" y="1828800"/>
            <a:ext cx="19202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6510">
            <a:solidFill>
              <a:srgbClr val="1E5B9A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58952" y="1956816"/>
            <a:ext cx="438912" cy="43891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298448" y="208483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742"/>
                </a:solidFill>
              </a:rPr>
              <a:t>Squish IDE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3749040" y="1828800"/>
            <a:ext cx="19202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6510">
            <a:solidFill>
              <a:srgbClr val="6956E5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22192" y="1956816"/>
            <a:ext cx="438912" cy="43891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361688" y="208483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742"/>
                </a:solidFill>
              </a:rPr>
              <a:t>squishrunner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6675120" y="1828800"/>
            <a:ext cx="19202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6510">
            <a:solidFill>
              <a:srgbClr val="00A6A6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48272" y="1956816"/>
            <a:ext cx="438912" cy="43891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287768" y="208483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742"/>
                </a:solidFill>
              </a:rPr>
              <a:t>squishserver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9326880" y="1828800"/>
            <a:ext cx="19202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6510">
            <a:solidFill>
              <a:srgbClr val="69B34C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400032" y="1956816"/>
            <a:ext cx="438912" cy="43891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939528" y="208483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742"/>
                </a:solidFill>
              </a:rPr>
              <a:t>AUT</a:t>
            </a:r>
            <a:endParaRPr lang="en-US" sz="1250" dirty="0"/>
          </a:p>
        </p:txBody>
      </p:sp>
      <p:sp>
        <p:nvSpPr>
          <p:cNvPr id="23" name="Shape 17"/>
          <p:cNvSpPr/>
          <p:nvPr/>
        </p:nvSpPr>
        <p:spPr>
          <a:xfrm>
            <a:off x="3154680" y="4251960"/>
            <a:ext cx="21031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6510">
            <a:solidFill>
              <a:srgbClr val="F59E0B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227832" y="4379976"/>
            <a:ext cx="438912" cy="43891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3767328" y="45079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742"/>
                </a:solidFill>
              </a:rPr>
              <a:t>Test scripts</a:t>
            </a:r>
            <a:endParaRPr lang="en-US" sz="1250" dirty="0"/>
          </a:p>
        </p:txBody>
      </p:sp>
      <p:sp>
        <p:nvSpPr>
          <p:cNvPr id="26" name="Shape 19"/>
          <p:cNvSpPr/>
          <p:nvPr/>
        </p:nvSpPr>
        <p:spPr>
          <a:xfrm>
            <a:off x="5715000" y="4251960"/>
            <a:ext cx="21031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6510">
            <a:solidFill>
              <a:srgbClr val="EF4444"/>
            </a:solidFill>
            <a:prstDash val="solid"/>
          </a:ln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788152" y="4379976"/>
            <a:ext cx="438912" cy="438912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327648" y="45079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742"/>
                </a:solidFill>
              </a:rPr>
              <a:t>Reports / Logs</a:t>
            </a:r>
            <a:endParaRPr lang="en-US" sz="1250" dirty="0"/>
          </a:p>
        </p:txBody>
      </p:sp>
      <p:sp>
        <p:nvSpPr>
          <p:cNvPr id="29" name="Text 21"/>
          <p:cNvSpPr/>
          <p:nvPr/>
        </p:nvSpPr>
        <p:spPr>
          <a:xfrm>
            <a:off x="914400" y="562356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102A43"/>
                </a:solidFill>
              </a:rPr>
              <a:t>The runner executes the test script and communicates with the server using TCP/IP. The server starts or attaches to the AUT and exposes UI objects for automation.</a:t>
            </a:r>
            <a:endParaRPr lang="en-US" sz="1500" dirty="0"/>
          </a:p>
        </p:txBody>
      </p:sp>
      <p:sp>
        <p:nvSpPr>
          <p:cNvPr id="30" name="Text 22"/>
          <p:cNvSpPr/>
          <p:nvPr/>
        </p:nvSpPr>
        <p:spPr>
          <a:xfrm>
            <a:off x="9692640" y="646480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2677A"/>
                </a:solidFill>
              </a:rPr>
              <a:t>Squish Fundamentals | 03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7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features and benefits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30352" y="79552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77A"/>
                </a:solidFill>
              </a:rPr>
              <a:t>Why Squish is strong for GUI automation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11064240" cy="0"/>
          </a:xfrm>
          <a:prstGeom prst="line">
            <a:avLst/>
          </a:prstGeom>
          <a:noFill/>
          <a:ln w="12700">
            <a:solidFill>
              <a:srgbClr val="B9CBD9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520" y="1417320"/>
            <a:ext cx="685800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43560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742"/>
                </a:solidFill>
              </a:rPr>
              <a:t>Object-based automation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600200" y="1746504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02A43"/>
                </a:solidFill>
              </a:rPr>
              <a:t>Finds real GUI objects instead of only relying on coordinates or images.</a:t>
            </a:r>
            <a:endParaRPr lang="en-US" sz="11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1520" y="2834640"/>
            <a:ext cx="685800" cy="6858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00200" y="285292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742"/>
                </a:solidFill>
              </a:rPr>
              <a:t>Record and replay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1600200" y="3163824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02A43"/>
                </a:solidFill>
              </a:rPr>
              <a:t>Quickly record user actions, then edit and improve the generated script.</a:t>
            </a:r>
            <a:endParaRPr lang="en-US" sz="11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1520" y="4251960"/>
            <a:ext cx="685800" cy="6858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600200" y="427024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742"/>
                </a:solidFill>
              </a:rPr>
              <a:t>Powerful scripting</a:t>
            </a:r>
            <a:endParaRPr lang="en-US" sz="1450" dirty="0"/>
          </a:p>
        </p:txBody>
      </p:sp>
      <p:sp>
        <p:nvSpPr>
          <p:cNvPr id="14" name="Text 9"/>
          <p:cNvSpPr/>
          <p:nvPr/>
        </p:nvSpPr>
        <p:spPr>
          <a:xfrm>
            <a:off x="1600200" y="4581144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02A43"/>
                </a:solidFill>
              </a:rPr>
              <a:t>Python, JavaScript, Perl, Ruby and Tcl support for maintainable logic.</a:t>
            </a:r>
            <a:endParaRPr lang="en-US" sz="11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17920" y="1417320"/>
            <a:ext cx="685800" cy="6858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086600" y="143560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742"/>
                </a:solidFill>
              </a:rPr>
              <a:t>Verification points</a:t>
            </a:r>
            <a:endParaRPr lang="en-US" sz="1450" dirty="0"/>
          </a:p>
        </p:txBody>
      </p:sp>
      <p:sp>
        <p:nvSpPr>
          <p:cNvPr id="17" name="Text 11"/>
          <p:cNvSpPr/>
          <p:nvPr/>
        </p:nvSpPr>
        <p:spPr>
          <a:xfrm>
            <a:off x="7086600" y="1746504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02A43"/>
                </a:solidFill>
              </a:rPr>
              <a:t>Validate text, properties, screenshots, tables and expected states.</a:t>
            </a:r>
            <a:endParaRPr lang="en-US" sz="11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217920" y="2834640"/>
            <a:ext cx="685800" cy="68580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7086600" y="285292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742"/>
                </a:solidFill>
              </a:rPr>
              <a:t>CI-ready execution</a:t>
            </a:r>
            <a:endParaRPr lang="en-US" sz="1450" dirty="0"/>
          </a:p>
        </p:txBody>
      </p:sp>
      <p:sp>
        <p:nvSpPr>
          <p:cNvPr id="20" name="Text 13"/>
          <p:cNvSpPr/>
          <p:nvPr/>
        </p:nvSpPr>
        <p:spPr>
          <a:xfrm>
            <a:off x="7086600" y="3163824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02A43"/>
                </a:solidFill>
              </a:rPr>
              <a:t>Run tests from command line and generate repeatable reports.</a:t>
            </a:r>
            <a:endParaRPr lang="en-US" sz="110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217920" y="4251960"/>
            <a:ext cx="685800" cy="68580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7086600" y="427024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742"/>
                </a:solidFill>
              </a:rPr>
              <a:t>Cross-platform scope</a:t>
            </a:r>
            <a:endParaRPr lang="en-US" sz="1450" dirty="0"/>
          </a:p>
        </p:txBody>
      </p:sp>
      <p:sp>
        <p:nvSpPr>
          <p:cNvPr id="23" name="Text 15"/>
          <p:cNvSpPr/>
          <p:nvPr/>
        </p:nvSpPr>
        <p:spPr>
          <a:xfrm>
            <a:off x="7086600" y="4581144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02A43"/>
                </a:solidFill>
              </a:rPr>
              <a:t>Automate desktop, mobile, embedded and web apps from one tool family.</a:t>
            </a:r>
            <a:endParaRPr lang="en-US" sz="1100" dirty="0"/>
          </a:p>
        </p:txBody>
      </p:sp>
      <p:sp>
        <p:nvSpPr>
          <p:cNvPr id="24" name="Text 16"/>
          <p:cNvSpPr/>
          <p:nvPr/>
        </p:nvSpPr>
        <p:spPr>
          <a:xfrm>
            <a:off x="9692640" y="646480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2677A"/>
                </a:solidFill>
              </a:rPr>
              <a:t>Squish Fundamentals | 04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7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Supported technologies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30352" y="79552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77A"/>
                </a:solidFill>
              </a:rPr>
              <a:t>Common application types Squish can automate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11064240" cy="0"/>
          </a:xfrm>
          <a:prstGeom prst="line">
            <a:avLst/>
          </a:prstGeom>
          <a:noFill/>
          <a:ln w="12700">
            <a:solidFill>
              <a:srgbClr val="B9CBD9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74520" y="1389888"/>
            <a:ext cx="914400" cy="914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4871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2742"/>
                </a:solidFill>
              </a:rPr>
              <a:t>Desktop GUI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960120" y="2889504"/>
            <a:ext cx="2743200" cy="0"/>
          </a:xfrm>
          <a:prstGeom prst="line">
            <a:avLst/>
          </a:prstGeom>
          <a:noFill/>
          <a:ln w="25400">
            <a:solidFill>
              <a:srgbClr val="69B34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3154680"/>
            <a:ext cx="3246120" cy="1371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230" dirty="0">
                <a:solidFill>
                  <a:srgbClr val="102A43"/>
                </a:solidFill>
              </a:rPr>
              <a:t>Qt / Qt Quick</a:t>
            </a:r>
            <a:endParaRPr lang="en-US" sz="1230" dirty="0"/>
          </a:p>
          <a:p>
            <a:pPr marL="165100" indent="-165100">
              <a:buSzPct val="100000"/>
              <a:buChar char="•"/>
            </a:pPr>
            <a:r>
              <a:rPr lang="en-US" sz="1230" dirty="0">
                <a:solidFill>
                  <a:srgbClr val="102A43"/>
                </a:solidFill>
              </a:rPr>
              <a:t>Java: AWT, Swing, SWT, JavaFX</a:t>
            </a:r>
            <a:endParaRPr lang="en-US" sz="1230" dirty="0"/>
          </a:p>
          <a:p>
            <a:pPr marL="165100" indent="-165100">
              <a:buSzPct val="100000"/>
              <a:buChar char="•"/>
            </a:pPr>
            <a:r>
              <a:rPr lang="en-US" sz="1230" dirty="0">
                <a:solidFill>
                  <a:srgbClr val="102A43"/>
                </a:solidFill>
              </a:rPr>
              <a:t>Native Windows / macOS</a:t>
            </a:r>
            <a:endParaRPr lang="en-US" sz="1230" dirty="0"/>
          </a:p>
          <a:p>
            <a:pPr marL="165100" indent="-165100">
              <a:buSzPct val="100000"/>
              <a:buChar char="•"/>
            </a:pPr>
            <a:r>
              <a:rPr lang="en-US" sz="1230" dirty="0">
                <a:solidFill>
                  <a:srgbClr val="102A43"/>
                </a:solidFill>
              </a:rPr>
              <a:t>Tk and other supported desktop UI</a:t>
            </a:r>
            <a:endParaRPr lang="en-US" sz="123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69280" y="1389888"/>
            <a:ext cx="914400" cy="9144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26280" y="24871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2742"/>
                </a:solidFill>
              </a:rPr>
              <a:t>Web GUI</a:t>
            </a:r>
            <a:endParaRPr lang="en-US" sz="1700" dirty="0"/>
          </a:p>
        </p:txBody>
      </p:sp>
      <p:sp>
        <p:nvSpPr>
          <p:cNvPr id="12" name="Shape 8"/>
          <p:cNvSpPr/>
          <p:nvPr/>
        </p:nvSpPr>
        <p:spPr>
          <a:xfrm>
            <a:off x="4754880" y="2889504"/>
            <a:ext cx="2743200" cy="0"/>
          </a:xfrm>
          <a:prstGeom prst="line">
            <a:avLst/>
          </a:prstGeom>
          <a:noFill/>
          <a:ln w="25400">
            <a:solidFill>
              <a:srgbClr val="1E5B9A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572000" y="3154680"/>
            <a:ext cx="3246120" cy="1371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230" dirty="0">
                <a:solidFill>
                  <a:srgbClr val="102A43"/>
                </a:solidFill>
              </a:rPr>
              <a:t>Chrome / Chromium browsers</a:t>
            </a:r>
            <a:endParaRPr lang="en-US" sz="1230" dirty="0"/>
          </a:p>
          <a:p>
            <a:pPr marL="165100" indent="-165100">
              <a:buSzPct val="100000"/>
              <a:buChar char="•"/>
            </a:pPr>
            <a:r>
              <a:rPr lang="en-US" sz="1230" dirty="0">
                <a:solidFill>
                  <a:srgbClr val="102A43"/>
                </a:solidFill>
              </a:rPr>
              <a:t>Microsoft Edge on Windows</a:t>
            </a:r>
            <a:endParaRPr lang="en-US" sz="1230" dirty="0"/>
          </a:p>
          <a:p>
            <a:pPr marL="165100" indent="-165100">
              <a:buSzPct val="100000"/>
              <a:buChar char="•"/>
            </a:pPr>
            <a:r>
              <a:rPr lang="en-US" sz="1230" dirty="0">
                <a:solidFill>
                  <a:srgbClr val="102A43"/>
                </a:solidFill>
              </a:rPr>
              <a:t>Firefox</a:t>
            </a:r>
            <a:endParaRPr lang="en-US" sz="1230" dirty="0"/>
          </a:p>
          <a:p>
            <a:pPr marL="165100" indent="-165100">
              <a:buSzPct val="100000"/>
              <a:buChar char="•"/>
            </a:pPr>
            <a:r>
              <a:rPr lang="en-US" sz="1230" dirty="0">
                <a:solidFill>
                  <a:srgbClr val="102A43"/>
                </a:solidFill>
              </a:rPr>
              <a:t>Safari on macOS</a:t>
            </a:r>
            <a:endParaRPr lang="en-US" sz="123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464040" y="1389888"/>
            <a:ext cx="914400" cy="9144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321040" y="24871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2742"/>
                </a:solidFill>
              </a:rPr>
              <a:t>Mobile / Embedded</a:t>
            </a:r>
            <a:endParaRPr lang="en-US" sz="1700" dirty="0"/>
          </a:p>
        </p:txBody>
      </p:sp>
      <p:sp>
        <p:nvSpPr>
          <p:cNvPr id="16" name="Shape 11"/>
          <p:cNvSpPr/>
          <p:nvPr/>
        </p:nvSpPr>
        <p:spPr>
          <a:xfrm>
            <a:off x="8549640" y="2889504"/>
            <a:ext cx="274320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8366760" y="3154680"/>
            <a:ext cx="3246120" cy="1371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230" dirty="0">
                <a:solidFill>
                  <a:srgbClr val="102A43"/>
                </a:solidFill>
              </a:rPr>
              <a:t>Android applications</a:t>
            </a:r>
            <a:endParaRPr lang="en-US" sz="1230" dirty="0"/>
          </a:p>
          <a:p>
            <a:pPr marL="165100" indent="-165100">
              <a:buSzPct val="100000"/>
              <a:buChar char="•"/>
            </a:pPr>
            <a:r>
              <a:rPr lang="en-US" sz="1230" dirty="0">
                <a:solidFill>
                  <a:srgbClr val="102A43"/>
                </a:solidFill>
              </a:rPr>
              <a:t>iOS applications</a:t>
            </a:r>
            <a:endParaRPr lang="en-US" sz="1230" dirty="0"/>
          </a:p>
          <a:p>
            <a:pPr marL="165100" indent="-165100">
              <a:buSzPct val="100000"/>
              <a:buChar char="•"/>
            </a:pPr>
            <a:r>
              <a:rPr lang="en-US" sz="1230" dirty="0">
                <a:solidFill>
                  <a:srgbClr val="102A43"/>
                </a:solidFill>
              </a:rPr>
              <a:t>VNC / remote displays</a:t>
            </a:r>
            <a:endParaRPr lang="en-US" sz="1230" dirty="0"/>
          </a:p>
          <a:p>
            <a:pPr marL="165100" indent="-165100">
              <a:buSzPct val="100000"/>
              <a:buChar char="•"/>
            </a:pPr>
            <a:r>
              <a:rPr lang="en-US" sz="1230" dirty="0">
                <a:solidFill>
                  <a:srgbClr val="102A43"/>
                </a:solidFill>
              </a:rPr>
              <a:t>MCU and embedded targets</a:t>
            </a:r>
            <a:endParaRPr lang="en-US" sz="1230" dirty="0"/>
          </a:p>
        </p:txBody>
      </p:sp>
      <p:sp>
        <p:nvSpPr>
          <p:cNvPr id="18" name="Text 13"/>
          <p:cNvSpPr/>
          <p:nvPr/>
        </p:nvSpPr>
        <p:spPr>
          <a:xfrm>
            <a:off x="868680" y="580644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52677A"/>
                </a:solidFill>
              </a:rPr>
              <a:t>Tip for training: always check the exact Squish edition/license and target platform before preparing a demo.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9692640" y="646480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2677A"/>
                </a:solidFill>
              </a:rPr>
              <a:t>Squish Fundamentals | 05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7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Squish IDE overview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30352" y="79552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77A"/>
                </a:solidFill>
              </a:rPr>
              <a:t>Where you create, record, inspect, debug and run GUI tests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11064240" cy="0"/>
          </a:xfrm>
          <a:prstGeom prst="line">
            <a:avLst/>
          </a:prstGeom>
          <a:noFill/>
          <a:ln w="12700">
            <a:solidFill>
              <a:srgbClr val="B9CB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417320"/>
            <a:ext cx="1065276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B9CB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417320"/>
            <a:ext cx="10652760" cy="393192"/>
          </a:xfrm>
          <a:prstGeom prst="rect">
            <a:avLst/>
          </a:prstGeom>
          <a:solidFill>
            <a:srgbClr val="0F2742"/>
          </a:solidFill>
          <a:ln w="12700">
            <a:solidFill>
              <a:srgbClr val="0F27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52704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Squish IDE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60120" y="2057400"/>
            <a:ext cx="1965960" cy="3337560"/>
          </a:xfrm>
          <a:prstGeom prst="roundRect">
            <a:avLst>
              <a:gd name="adj" fmla="val 2791"/>
            </a:avLst>
          </a:prstGeom>
          <a:solidFill>
            <a:srgbClr val="F3F7FA"/>
          </a:solidFill>
          <a:ln w="13970">
            <a:solidFill>
              <a:srgbClr val="00A6A6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88136" y="2221992"/>
            <a:ext cx="502920" cy="5029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691640" y="228600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742"/>
                </a:solidFill>
              </a:rPr>
              <a:t>Test Suites view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691640" y="258775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2677A"/>
                </a:solidFill>
              </a:rPr>
              <a:t>Suites, test cases, resources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154680" y="2057400"/>
            <a:ext cx="4206240" cy="2057400"/>
          </a:xfrm>
          <a:prstGeom prst="roundRect">
            <a:avLst>
              <a:gd name="adj" fmla="val 2667"/>
            </a:avLst>
          </a:prstGeom>
          <a:solidFill>
            <a:srgbClr val="F3F7FA"/>
          </a:solidFill>
          <a:ln w="13970">
            <a:solidFill>
              <a:srgbClr val="1E5B9A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82696" y="2221992"/>
            <a:ext cx="502920" cy="5029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886200" y="2286000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742"/>
                </a:solidFill>
              </a:rPr>
              <a:t>Script editor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3886200" y="258775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2677A"/>
                </a:solidFill>
              </a:rPr>
              <a:t>Python / JS / Ruby test code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7589520" y="2057400"/>
            <a:ext cx="3566160" cy="2057400"/>
          </a:xfrm>
          <a:prstGeom prst="roundRect">
            <a:avLst>
              <a:gd name="adj" fmla="val 2667"/>
            </a:avLst>
          </a:prstGeom>
          <a:solidFill>
            <a:srgbClr val="F3F7FA"/>
          </a:solidFill>
          <a:ln w="13970">
            <a:solidFill>
              <a:srgbClr val="F59E0B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717536" y="2221992"/>
            <a:ext cx="502920" cy="5029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321040" y="2286000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742"/>
                </a:solidFill>
              </a:rPr>
              <a:t>Object Map / Spy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8321040" y="2587752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2677A"/>
                </a:solidFill>
              </a:rPr>
              <a:t>Identify widgets and properties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3154680" y="4361688"/>
            <a:ext cx="8001000" cy="1033272"/>
          </a:xfrm>
          <a:prstGeom prst="roundRect">
            <a:avLst>
              <a:gd name="adj" fmla="val 5310"/>
            </a:avLst>
          </a:prstGeom>
          <a:solidFill>
            <a:srgbClr val="F3F7FA"/>
          </a:solidFill>
          <a:ln w="13970">
            <a:solidFill>
              <a:srgbClr val="69B34C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282696" y="4526280"/>
            <a:ext cx="502920" cy="5029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3886200" y="4590288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742"/>
                </a:solidFill>
              </a:rPr>
              <a:t>Results + Logs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3886200" y="489204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2677A"/>
                </a:solidFill>
              </a:rPr>
              <a:t>Pass/fail, screenshots, runner/server log</a:t>
            </a:r>
            <a:endParaRPr lang="en-US" sz="950" dirty="0"/>
          </a:p>
        </p:txBody>
      </p:sp>
      <p:sp>
        <p:nvSpPr>
          <p:cNvPr id="25" name="Text 19"/>
          <p:cNvSpPr/>
          <p:nvPr/>
        </p:nvSpPr>
        <p:spPr>
          <a:xfrm>
            <a:off x="822960" y="5989320"/>
            <a:ext cx="10332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742"/>
                </a:solidFill>
              </a:rPr>
              <a:t>Main activities: create suite → register AUT → record actions → add verification → run/debug → review result.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9692640" y="646480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2677A"/>
                </a:solidFill>
              </a:rPr>
              <a:t>Squish Fundamentals | 06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7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Squish Runner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30352" y="79552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77A"/>
                </a:solidFill>
              </a:rPr>
              <a:t>Command-line engine that executes Squish tests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11064240" cy="0"/>
          </a:xfrm>
          <a:prstGeom prst="line">
            <a:avLst/>
          </a:prstGeom>
          <a:noFill/>
          <a:ln w="12700">
            <a:solidFill>
              <a:srgbClr val="B9CBD9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2960" y="1463040"/>
            <a:ext cx="1371600" cy="1371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560320" y="1417320"/>
            <a:ext cx="8046720" cy="1554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500" dirty="0">
                <a:solidFill>
                  <a:srgbClr val="102A43"/>
                </a:solidFill>
              </a:rPr>
              <a:t>Reads and executes test scripts from a selected test suite.</a:t>
            </a:r>
            <a:endParaRPr lang="en-US" sz="1500" dirty="0"/>
          </a:p>
          <a:p>
            <a:pPr marL="165100" indent="-165100">
              <a:buSzPct val="100000"/>
              <a:buChar char="•"/>
            </a:pPr>
            <a:r>
              <a:rPr lang="en-US" sz="1500" dirty="0">
                <a:solidFill>
                  <a:srgbClr val="102A43"/>
                </a:solidFill>
              </a:rPr>
              <a:t>Communicates with squishserver over TCP/IP.</a:t>
            </a:r>
            <a:endParaRPr lang="en-US" sz="1500" dirty="0"/>
          </a:p>
          <a:p>
            <a:pPr marL="165100" indent="-165100">
              <a:buSzPct val="100000"/>
              <a:buChar char="•"/>
            </a:pPr>
            <a:r>
              <a:rPr lang="en-US" sz="1500" dirty="0">
                <a:solidFill>
                  <a:srgbClr val="102A43"/>
                </a:solidFill>
              </a:rPr>
              <a:t>Writes test results and can be used in CI/CD pipelines.</a:t>
            </a:r>
            <a:endParaRPr lang="en-US" sz="1500" dirty="0"/>
          </a:p>
          <a:p>
            <a:pPr marL="165100" indent="-165100">
              <a:buSzPct val="100000"/>
              <a:buChar char="•"/>
            </a:pPr>
            <a:r>
              <a:rPr lang="en-US" sz="1500" dirty="0">
                <a:solidFill>
                  <a:srgbClr val="102A43"/>
                </a:solidFill>
              </a:rPr>
              <a:t>Can run a full suite, one test case, record tests, or show configuration info.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68680" y="35204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742"/>
                </a:solidFill>
              </a:rPr>
              <a:t>Common command patterns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68680" y="3977640"/>
            <a:ext cx="10149840" cy="384048"/>
          </a:xfrm>
          <a:prstGeom prst="roundRect">
            <a:avLst>
              <a:gd name="adj" fmla="val 9524"/>
            </a:avLst>
          </a:prstGeom>
          <a:solidFill>
            <a:srgbClr val="0B1728"/>
          </a:solidFill>
          <a:ln w="12700">
            <a:solidFill>
              <a:srgbClr val="0B172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78992" y="4087368"/>
            <a:ext cx="96926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squishrunner --testsuite suite_login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68680" y="4507992"/>
            <a:ext cx="10149840" cy="384048"/>
          </a:xfrm>
          <a:prstGeom prst="roundRect">
            <a:avLst>
              <a:gd name="adj" fmla="val 9524"/>
            </a:avLst>
          </a:prstGeom>
          <a:solidFill>
            <a:srgbClr val="0B1728"/>
          </a:solidFill>
          <a:ln w="12700">
            <a:solidFill>
              <a:srgbClr val="0B172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78992" y="4617720"/>
            <a:ext cx="96926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squishrunner --testsuite suite_login --testcase tst_valid_login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68680" y="5038344"/>
            <a:ext cx="10149840" cy="384048"/>
          </a:xfrm>
          <a:prstGeom prst="roundRect">
            <a:avLst>
              <a:gd name="adj" fmla="val 9524"/>
            </a:avLst>
          </a:prstGeom>
          <a:solidFill>
            <a:srgbClr val="0B1728"/>
          </a:solidFill>
          <a:ln w="12700">
            <a:solidFill>
              <a:srgbClr val="0B172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78992" y="5148072"/>
            <a:ext cx="96926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squishrunner --testsuite suite_login --reportgen html,report.html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9692640" y="646480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2677A"/>
                </a:solidFill>
              </a:rPr>
              <a:t>Squish Fundamentals | 07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7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Squish Server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30352" y="79552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77A"/>
                </a:solidFill>
              </a:rPr>
              <a:t>Bridge between test execution and the application under test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11064240" cy="0"/>
          </a:xfrm>
          <a:prstGeom prst="line">
            <a:avLst/>
          </a:prstGeom>
          <a:noFill/>
          <a:ln w="12700">
            <a:solidFill>
              <a:srgbClr val="B9CB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417320"/>
            <a:ext cx="49834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5240">
            <a:solidFill>
              <a:srgbClr val="00A6A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417320"/>
            <a:ext cx="109728" cy="132588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3272" y="1581912"/>
            <a:ext cx="4599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742"/>
                </a:solidFill>
              </a:rPr>
              <a:t>Main responsibility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33272" y="1920240"/>
            <a:ext cx="4599432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02A43"/>
                </a:solidFill>
              </a:rPr>
              <a:t>Handles communication between squishrunner and the AUT. It can start the AUT locally or attach to a running/remote application.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6080760" y="1417320"/>
            <a:ext cx="49834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080760" y="1417320"/>
            <a:ext cx="109728" cy="1325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36792" y="1581912"/>
            <a:ext cx="4599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742"/>
                </a:solidFill>
              </a:rPr>
              <a:t>Why it matters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336792" y="1920240"/>
            <a:ext cx="4599432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02A43"/>
                </a:solidFill>
              </a:rPr>
              <a:t>Most execution errors are visible through runner/server logs: AUT not found, startup timeout, hook issue, browser driver issue, or connection problem.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868680" y="3246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742"/>
                </a:solidFill>
              </a:rPr>
              <a:t>Server execution modes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60120" y="3886200"/>
            <a:ext cx="548640" cy="548640"/>
          </a:xfrm>
          <a:prstGeom prst="ellipse">
            <a:avLst/>
          </a:prstGeom>
          <a:solidFill>
            <a:srgbClr val="69B34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64208" y="388620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742"/>
                </a:solidFill>
              </a:rPr>
              <a:t>Serving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664208" y="422452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02A43"/>
                </a:solidFill>
              </a:rPr>
              <a:t>Runs and waits for runner connections.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26280" y="3886200"/>
            <a:ext cx="548640" cy="548640"/>
          </a:xfrm>
          <a:prstGeom prst="ellipse">
            <a:avLst/>
          </a:prstGeom>
          <a:solidFill>
            <a:srgbClr val="1E5B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30368" y="388620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742"/>
                </a:solidFill>
              </a:rPr>
              <a:t>Configuring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230368" y="422452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02A43"/>
                </a:solidFill>
              </a:rPr>
              <a:t>Registers AUT paths, browser settings and timeouts.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092440" y="3886200"/>
            <a:ext cx="548640" cy="5486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796528" y="388620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742"/>
                </a:solidFill>
              </a:rPr>
              <a:t>Stopping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796528" y="422452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02A43"/>
                </a:solidFill>
              </a:rPr>
              <a:t>Gracefully stops the running server process.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14400" y="5532120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742"/>
                </a:solidFill>
              </a:rPr>
              <a:t>Practical check: open Runner/Server Log when a test fails before the first action is executed.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692640" y="646480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2677A"/>
                </a:solidFill>
              </a:rPr>
              <a:t>Squish Fundamentals | 08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7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AUT — Application Under Test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30352" y="79552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77A"/>
                </a:solidFill>
              </a:rPr>
              <a:t>The actual GUI application being automated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11064240" cy="0"/>
          </a:xfrm>
          <a:prstGeom prst="line">
            <a:avLst/>
          </a:prstGeom>
          <a:noFill/>
          <a:ln w="12700">
            <a:solidFill>
              <a:srgbClr val="B9CBD9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2960" y="1389888"/>
            <a:ext cx="1371600" cy="1371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560320" y="1298448"/>
            <a:ext cx="8183880" cy="1737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450" dirty="0">
                <a:solidFill>
                  <a:srgbClr val="102A43"/>
                </a:solidFill>
              </a:rPr>
              <a:t>AUT is the executable, browser session, mobile app, or remote display that Squish controls.</a:t>
            </a:r>
            <a:endParaRPr lang="en-US" sz="1450" dirty="0"/>
          </a:p>
          <a:p>
            <a:pPr marL="165100" indent="-165100">
              <a:buSzPct val="100000"/>
              <a:buChar char="•"/>
            </a:pPr>
            <a:r>
              <a:rPr lang="en-US" sz="1450" dirty="0">
                <a:solidFill>
                  <a:srgbClr val="102A43"/>
                </a:solidFill>
              </a:rPr>
              <a:t>The AUT must be registered/configured so Squish knows how to start or attach to it.</a:t>
            </a:r>
            <a:endParaRPr lang="en-US" sz="1450" dirty="0"/>
          </a:p>
          <a:p>
            <a:pPr marL="165100" indent="-165100">
              <a:buSzPct val="100000"/>
              <a:buChar char="•"/>
            </a:pPr>
            <a:r>
              <a:rPr lang="en-US" sz="1450" dirty="0">
                <a:solidFill>
                  <a:srgbClr val="102A43"/>
                </a:solidFill>
              </a:rPr>
              <a:t>For Web testing, the AUT is typically the browser plus the URL to open.</a:t>
            </a:r>
            <a:endParaRPr lang="en-US" sz="1450" dirty="0"/>
          </a:p>
          <a:p>
            <a:pPr marL="165100" indent="-165100">
              <a:buSzPct val="100000"/>
              <a:buChar char="•"/>
            </a:pPr>
            <a:r>
              <a:rPr lang="en-US" sz="1450" dirty="0">
                <a:solidFill>
                  <a:srgbClr val="102A43"/>
                </a:solidFill>
              </a:rPr>
              <a:t>For desktop/mobile/embedded, Squish may use hooks, wrappers or platform-specific integration.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68680" y="3520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742"/>
                </a:solidFill>
              </a:rPr>
              <a:t>AUT lifecycle in a test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777240" y="4160520"/>
            <a:ext cx="16002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5240">
            <a:solidFill>
              <a:srgbClr val="00A6A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446227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2742"/>
                </a:solidFill>
              </a:rPr>
              <a:t>Register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2514600" y="4572000"/>
            <a:ext cx="338328" cy="0"/>
          </a:xfrm>
          <a:prstGeom prst="line">
            <a:avLst/>
          </a:prstGeom>
          <a:noFill/>
          <a:ln w="17780">
            <a:solidFill>
              <a:srgbClr val="00A6A6"/>
            </a:solidFill>
            <a:prstDash val="solid"/>
            <a:headEnd type="none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2926080" y="4160520"/>
            <a:ext cx="16002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5240">
            <a:solidFill>
              <a:srgbClr val="00A6A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926080" y="446227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2742"/>
                </a:solidFill>
              </a:rPr>
              <a:t>Start / Attach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4663440" y="4572000"/>
            <a:ext cx="338328" cy="0"/>
          </a:xfrm>
          <a:prstGeom prst="line">
            <a:avLst/>
          </a:prstGeom>
          <a:noFill/>
          <a:ln w="17780">
            <a:solidFill>
              <a:srgbClr val="00A6A6"/>
            </a:solidFill>
            <a:prstDash val="solid"/>
            <a:headEnd type="none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5074920" y="4160520"/>
            <a:ext cx="16002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5240">
            <a:solidFill>
              <a:srgbClr val="00A6A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074920" y="446227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2742"/>
                </a:solidFill>
              </a:rPr>
              <a:t>Interact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812280" y="4572000"/>
            <a:ext cx="338328" cy="0"/>
          </a:xfrm>
          <a:prstGeom prst="line">
            <a:avLst/>
          </a:prstGeom>
          <a:noFill/>
          <a:ln w="17780">
            <a:solidFill>
              <a:srgbClr val="00A6A6"/>
            </a:solidFill>
            <a:prstDash val="solid"/>
            <a:headEnd type="none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7223760" y="4160520"/>
            <a:ext cx="16002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5240">
            <a:solidFill>
              <a:srgbClr val="00A6A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223760" y="446227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2742"/>
                </a:solidFill>
              </a:rPr>
              <a:t>Verify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8961120" y="4572000"/>
            <a:ext cx="338328" cy="0"/>
          </a:xfrm>
          <a:prstGeom prst="line">
            <a:avLst/>
          </a:prstGeom>
          <a:noFill/>
          <a:ln w="17780">
            <a:solidFill>
              <a:srgbClr val="00A6A6"/>
            </a:solidFill>
            <a:prstDash val="solid"/>
            <a:headEnd type="none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9372600" y="4160520"/>
            <a:ext cx="16002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5240">
            <a:solidFill>
              <a:srgbClr val="00A6A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372600" y="446227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2742"/>
                </a:solidFill>
              </a:rPr>
              <a:t>Close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914400" y="5715000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52677A"/>
                </a:solidFill>
              </a:rPr>
              <a:t>Training tip: if the AUT does not launch, first verify path, environment variables, license, browser driver and server log.</a:t>
            </a:r>
            <a:endParaRPr lang="en-US" sz="1350" dirty="0"/>
          </a:p>
        </p:txBody>
      </p:sp>
      <p:sp>
        <p:nvSpPr>
          <p:cNvPr id="24" name="Text 21"/>
          <p:cNvSpPr/>
          <p:nvPr/>
        </p:nvSpPr>
        <p:spPr>
          <a:xfrm>
            <a:off x="9692640" y="646480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2677A"/>
                </a:solidFill>
              </a:rPr>
              <a:t>Squish Fundamentals | 09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7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Squish test suite structure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30352" y="79552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77A"/>
                </a:solidFill>
              </a:rPr>
              <a:t>How a Squish automation project is organized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11064240" cy="0"/>
          </a:xfrm>
          <a:prstGeom prst="line">
            <a:avLst/>
          </a:prstGeom>
          <a:noFill/>
          <a:ln w="12700">
            <a:solidFill>
              <a:srgbClr val="B9CB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417320"/>
            <a:ext cx="466344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B9CB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" y="1709928"/>
            <a:ext cx="4069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0F27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suite_login</a:t>
            </a:r>
            <a:endParaRPr lang="en-US" sz="1120" dirty="0"/>
          </a:p>
        </p:txBody>
      </p:sp>
      <p:sp>
        <p:nvSpPr>
          <p:cNvPr id="8" name="Text 6"/>
          <p:cNvSpPr/>
          <p:nvPr/>
        </p:nvSpPr>
        <p:spPr>
          <a:xfrm>
            <a:off x="1078992" y="2066544"/>
            <a:ext cx="4069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 suite.conf</a:t>
            </a:r>
            <a:endParaRPr lang="en-US" sz="1120" dirty="0"/>
          </a:p>
        </p:txBody>
      </p:sp>
      <p:sp>
        <p:nvSpPr>
          <p:cNvPr id="9" name="Text 7"/>
          <p:cNvSpPr/>
          <p:nvPr/>
        </p:nvSpPr>
        <p:spPr>
          <a:xfrm>
            <a:off x="1078992" y="2423160"/>
            <a:ext cx="4069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0F27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 📁 tst_valid_login</a:t>
            </a:r>
            <a:endParaRPr lang="en-US" sz="1120" dirty="0"/>
          </a:p>
        </p:txBody>
      </p:sp>
      <p:sp>
        <p:nvSpPr>
          <p:cNvPr id="10" name="Text 8"/>
          <p:cNvSpPr/>
          <p:nvPr/>
        </p:nvSpPr>
        <p:spPr>
          <a:xfrm>
            <a:off x="1078992" y="2779776"/>
            <a:ext cx="4069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 └─ test.py / test.js</a:t>
            </a:r>
            <a:endParaRPr lang="en-US" sz="1120" dirty="0"/>
          </a:p>
        </p:txBody>
      </p:sp>
      <p:sp>
        <p:nvSpPr>
          <p:cNvPr id="11" name="Text 9"/>
          <p:cNvSpPr/>
          <p:nvPr/>
        </p:nvSpPr>
        <p:spPr>
          <a:xfrm>
            <a:off x="1078992" y="3136392"/>
            <a:ext cx="4069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0F27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 📁 tst_invalid_login</a:t>
            </a:r>
            <a:endParaRPr lang="en-US" sz="1120" dirty="0"/>
          </a:p>
        </p:txBody>
      </p:sp>
      <p:sp>
        <p:nvSpPr>
          <p:cNvPr id="12" name="Text 10"/>
          <p:cNvSpPr/>
          <p:nvPr/>
        </p:nvSpPr>
        <p:spPr>
          <a:xfrm>
            <a:off x="1078992" y="3493008"/>
            <a:ext cx="4069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 └─ test.py / test.js</a:t>
            </a:r>
            <a:endParaRPr lang="en-US" sz="1120" dirty="0"/>
          </a:p>
        </p:txBody>
      </p:sp>
      <p:sp>
        <p:nvSpPr>
          <p:cNvPr id="13" name="Text 11"/>
          <p:cNvSpPr/>
          <p:nvPr/>
        </p:nvSpPr>
        <p:spPr>
          <a:xfrm>
            <a:off x="1078992" y="3849624"/>
            <a:ext cx="4069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0F27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 📁 shared</a:t>
            </a:r>
            <a:endParaRPr lang="en-US" sz="1120" dirty="0"/>
          </a:p>
        </p:txBody>
      </p:sp>
      <p:sp>
        <p:nvSpPr>
          <p:cNvPr id="14" name="Text 12"/>
          <p:cNvSpPr/>
          <p:nvPr/>
        </p:nvSpPr>
        <p:spPr>
          <a:xfrm>
            <a:off x="1078992" y="4206240"/>
            <a:ext cx="4069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 ├─ scripts / names.py</a:t>
            </a:r>
            <a:endParaRPr lang="en-US" sz="1120" dirty="0"/>
          </a:p>
        </p:txBody>
      </p:sp>
      <p:sp>
        <p:nvSpPr>
          <p:cNvPr id="15" name="Text 13"/>
          <p:cNvSpPr/>
          <p:nvPr/>
        </p:nvSpPr>
        <p:spPr>
          <a:xfrm>
            <a:off x="1078992" y="4562856"/>
            <a:ext cx="4069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 ├─ testdata</a:t>
            </a:r>
            <a:endParaRPr lang="en-US" sz="1120" dirty="0"/>
          </a:p>
        </p:txBody>
      </p:sp>
      <p:sp>
        <p:nvSpPr>
          <p:cNvPr id="16" name="Text 14"/>
          <p:cNvSpPr/>
          <p:nvPr/>
        </p:nvSpPr>
        <p:spPr>
          <a:xfrm>
            <a:off x="1078992" y="4919472"/>
            <a:ext cx="4069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 └─ verification-points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5989320" y="1417320"/>
            <a:ext cx="51206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5240">
            <a:solidFill>
              <a:srgbClr val="1E5B9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89320" y="1417320"/>
            <a:ext cx="109728" cy="960120"/>
          </a:xfrm>
          <a:prstGeom prst="rect">
            <a:avLst/>
          </a:prstGeom>
          <a:solidFill>
            <a:srgbClr val="1E5B9A"/>
          </a:solidFill>
          <a:ln w="12700">
            <a:solidFill>
              <a:srgbClr val="1E5B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45352" y="1581912"/>
            <a:ext cx="4736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742"/>
                </a:solidFill>
              </a:rPr>
              <a:t>Test suite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45352" y="1920240"/>
            <a:ext cx="4736592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02A43"/>
                </a:solidFill>
              </a:rPr>
              <a:t>Top-level container for related test cases, object map, settings, shared code, data files and verification resources.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5989320" y="2670048"/>
            <a:ext cx="51206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5240">
            <a:solidFill>
              <a:srgbClr val="00A6A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89320" y="2670048"/>
            <a:ext cx="109728" cy="96012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45352" y="2834640"/>
            <a:ext cx="4736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742"/>
                </a:solidFill>
              </a:rPr>
              <a:t>Test case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245352" y="3172968"/>
            <a:ext cx="4736592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02A43"/>
                </a:solidFill>
              </a:rPr>
              <a:t>A folder such as tst_valid_login containing the executable script file. One suite can contain many test cases.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5989320" y="3922776"/>
            <a:ext cx="51206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89320" y="3922776"/>
            <a:ext cx="109728" cy="960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45352" y="4087368"/>
            <a:ext cx="4736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742"/>
                </a:solidFill>
              </a:rPr>
              <a:t>Shared resources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245352" y="4425696"/>
            <a:ext cx="4736592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02A43"/>
                </a:solidFill>
              </a:rPr>
              <a:t>Reusable scripts, data sets, object map names and verification points used across multiple test cases.</a:t>
            </a:r>
            <a:endParaRPr lang="en-US" sz="1080" dirty="0"/>
          </a:p>
        </p:txBody>
      </p:sp>
      <p:sp>
        <p:nvSpPr>
          <p:cNvPr id="29" name="Text 27"/>
          <p:cNvSpPr/>
          <p:nvPr/>
        </p:nvSpPr>
        <p:spPr>
          <a:xfrm>
            <a:off x="914400" y="605332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0F2742"/>
                </a:solidFill>
              </a:rPr>
              <a:t>Good practice: keep object names reusable, split helper functions, store test data separately, and use clear tst_* naming.</a:t>
            </a:r>
            <a:endParaRPr lang="en-US" sz="1320" dirty="0"/>
          </a:p>
        </p:txBody>
      </p:sp>
      <p:sp>
        <p:nvSpPr>
          <p:cNvPr id="30" name="Text 28"/>
          <p:cNvSpPr/>
          <p:nvPr/>
        </p:nvSpPr>
        <p:spPr>
          <a:xfrm>
            <a:off x="9692640" y="646480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2677A"/>
                </a:solidFill>
              </a:rPr>
              <a:t>Squish Fundamentals | 10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7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Sample GUI automation flow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30352" y="79552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77A"/>
                </a:solidFill>
              </a:rPr>
              <a:t>Example: login test in Squish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11064240" cy="0"/>
          </a:xfrm>
          <a:prstGeom prst="line">
            <a:avLst/>
          </a:prstGeom>
          <a:noFill/>
          <a:ln w="12700">
            <a:solidFill>
              <a:srgbClr val="B9CB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70432" y="1600200"/>
            <a:ext cx="658368" cy="658368"/>
          </a:xfrm>
          <a:prstGeom prst="ellipse">
            <a:avLst/>
          </a:prstGeom>
          <a:solidFill>
            <a:srgbClr val="00A6A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70432" y="1810512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487168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2742"/>
                </a:solidFill>
              </a:rPr>
              <a:t>Create suite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0080" y="2880360"/>
            <a:ext cx="1691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02A43"/>
                </a:solidFill>
              </a:rPr>
              <a:t>Choose toolkit + scripting language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633472" y="2788920"/>
            <a:ext cx="256032" cy="0"/>
          </a:xfrm>
          <a:prstGeom prst="line">
            <a:avLst/>
          </a:prstGeom>
          <a:noFill/>
          <a:ln w="17780">
            <a:solidFill>
              <a:srgbClr val="B9CBD9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474720" y="1600200"/>
            <a:ext cx="658368" cy="658368"/>
          </a:xfrm>
          <a:prstGeom prst="ellipse">
            <a:avLst/>
          </a:prstGeom>
          <a:solidFill>
            <a:srgbClr val="1E5B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0" y="1810512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944368" y="2487168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2742"/>
                </a:solidFill>
              </a:rPr>
              <a:t>Register AUT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2944368" y="2880360"/>
            <a:ext cx="1691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02A43"/>
                </a:solidFill>
              </a:rPr>
              <a:t>Browser/app path + startup settings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937760" y="2788920"/>
            <a:ext cx="256032" cy="0"/>
          </a:xfrm>
          <a:prstGeom prst="line">
            <a:avLst/>
          </a:prstGeom>
          <a:noFill/>
          <a:ln w="17780">
            <a:solidFill>
              <a:srgbClr val="B9CBD9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779008" y="1600200"/>
            <a:ext cx="658368" cy="6583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79008" y="1810512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248656" y="2487168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2742"/>
                </a:solidFill>
              </a:rPr>
              <a:t>Record actions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248656" y="2880360"/>
            <a:ext cx="1691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02A43"/>
                </a:solidFill>
              </a:rPr>
              <a:t>Login screen clicks and typing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242048" y="2788920"/>
            <a:ext cx="256032" cy="0"/>
          </a:xfrm>
          <a:prstGeom prst="line">
            <a:avLst/>
          </a:prstGeom>
          <a:noFill/>
          <a:ln w="17780">
            <a:solidFill>
              <a:srgbClr val="B9CBD9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083296" y="1600200"/>
            <a:ext cx="658368" cy="658368"/>
          </a:xfrm>
          <a:prstGeom prst="ellipse">
            <a:avLst/>
          </a:prstGeom>
          <a:solidFill>
            <a:srgbClr val="69B34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83296" y="1810512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552944" y="2487168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2742"/>
                </a:solidFill>
              </a:rPr>
              <a:t>Add checks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7552944" y="2880360"/>
            <a:ext cx="1691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02A43"/>
                </a:solidFill>
              </a:rPr>
              <a:t>Verification points / test.compare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546336" y="2788920"/>
            <a:ext cx="256032" cy="0"/>
          </a:xfrm>
          <a:prstGeom prst="line">
            <a:avLst/>
          </a:prstGeom>
          <a:noFill/>
          <a:ln w="17780">
            <a:solidFill>
              <a:srgbClr val="B9CBD9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10387584" y="1600200"/>
            <a:ext cx="658368" cy="658368"/>
          </a:xfrm>
          <a:prstGeom prst="ellipse">
            <a:avLst/>
          </a:prstGeom>
          <a:solidFill>
            <a:srgbClr val="6956E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387584" y="1810512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857232" y="2487168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2742"/>
                </a:solidFill>
              </a:rPr>
              <a:t>Run + report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9857232" y="2880360"/>
            <a:ext cx="1691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02A43"/>
                </a:solidFill>
              </a:rPr>
              <a:t>Debug failures and export results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68680" y="4187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742"/>
                </a:solidFill>
              </a:rPr>
              <a:t>Mini demo idea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14400" y="4599432"/>
            <a:ext cx="9875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02A43"/>
                </a:solidFill>
              </a:rPr>
              <a:t>Automate a simple login screen: enter valid credentials → click Login → verify dashboard text → logout → run same test from command line.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2651760" y="5349240"/>
            <a:ext cx="6949440" cy="548640"/>
          </a:xfrm>
          <a:prstGeom prst="roundRect">
            <a:avLst>
              <a:gd name="adj" fmla="val 8333"/>
            </a:avLst>
          </a:prstGeom>
          <a:solidFill>
            <a:srgbClr val="0B1728"/>
          </a:solidFill>
          <a:ln w="12700">
            <a:solidFill>
              <a:srgbClr val="0B172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926080" y="553212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5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squishrunner --testsuite suite_login --testcase tst_valid_login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9692640" y="646480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2677A"/>
                </a:solidFill>
              </a:rPr>
              <a:t>Squish Fundamentals | 11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7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Common beginner troubleshooting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30352" y="79552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77A"/>
                </a:solidFill>
              </a:rPr>
              <a:t>Quick checks when Squish tests do not run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11064240" cy="0"/>
          </a:xfrm>
          <a:prstGeom prst="line">
            <a:avLst/>
          </a:prstGeom>
          <a:noFill/>
          <a:ln w="12700">
            <a:solidFill>
              <a:srgbClr val="B9CB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508760"/>
            <a:ext cx="384048" cy="38404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27632"/>
            <a:ext cx="3840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344168" y="1417320"/>
            <a:ext cx="4434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742"/>
                </a:solidFill>
              </a:rPr>
              <a:t>AUT not starting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44168" y="1764792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02A43"/>
                </a:solidFill>
              </a:rPr>
              <a:t>Check application path, working directory, environment variables and license.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777240" y="2834640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953512"/>
            <a:ext cx="3840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2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344168" y="2743200"/>
            <a:ext cx="4434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742"/>
                </a:solidFill>
              </a:rPr>
              <a:t>Object not found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44168" y="3090672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02A43"/>
                </a:solidFill>
              </a:rPr>
              <a:t>Open Object Map/Spy, update properties, add waits and avoid unstable names.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777240" y="4160520"/>
            <a:ext cx="384048" cy="384048"/>
          </a:xfrm>
          <a:prstGeom prst="ellipse">
            <a:avLst/>
          </a:prstGeom>
          <a:solidFill>
            <a:srgbClr val="1E5B9A"/>
          </a:solidFill>
          <a:ln w="12700">
            <a:solidFill>
              <a:srgbClr val="1E5B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4279392"/>
            <a:ext cx="3840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3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344168" y="4069080"/>
            <a:ext cx="4434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742"/>
                </a:solidFill>
              </a:rPr>
              <a:t>Browser driver error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44168" y="4416552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02A43"/>
                </a:solidFill>
              </a:rPr>
              <a:t>Install the matching browser driver and configure it in Server Settings.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6263640" y="1508760"/>
            <a:ext cx="384048" cy="384048"/>
          </a:xfrm>
          <a:prstGeom prst="ellipse">
            <a:avLst/>
          </a:prstGeom>
          <a:solidFill>
            <a:srgbClr val="6956E5"/>
          </a:solidFill>
          <a:ln w="12700">
            <a:solidFill>
              <a:srgbClr val="6956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63640" y="1627632"/>
            <a:ext cx="3840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4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830568" y="1417320"/>
            <a:ext cx="4434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742"/>
                </a:solidFill>
              </a:rPr>
              <a:t>Timing failures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830568" y="1764792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02A43"/>
                </a:solidFill>
              </a:rPr>
              <a:t>Use waitForObject / synchronization points instead of fixed sleeps.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6263640" y="2834640"/>
            <a:ext cx="384048" cy="384048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63640" y="2953512"/>
            <a:ext cx="3840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5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830568" y="2743200"/>
            <a:ext cx="4434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742"/>
                </a:solidFill>
              </a:rPr>
              <a:t>Server connection issue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830568" y="3090672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02A43"/>
                </a:solidFill>
              </a:rPr>
              <a:t>Confirm squishserver is running, port is reachable and IDE points to correct server.</a:t>
            </a:r>
            <a:endParaRPr lang="en-US" sz="1080" dirty="0"/>
          </a:p>
        </p:txBody>
      </p:sp>
      <p:sp>
        <p:nvSpPr>
          <p:cNvPr id="26" name="Text 24"/>
          <p:cNvSpPr/>
          <p:nvPr/>
        </p:nvSpPr>
        <p:spPr>
          <a:xfrm>
            <a:off x="868680" y="57607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F2742"/>
                </a:solidFill>
              </a:rPr>
              <a:t>Debug habit: check Test Results + Runner/Server Log first, then inspect the Object Map.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9692640" y="646480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2677A"/>
                </a:solidFill>
              </a:rPr>
              <a:t>Squish Fundamentals | 12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7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References used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30352" y="79552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77A"/>
                </a:solidFill>
              </a:rPr>
              <a:t>Official Qt Squish documentation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11064240" cy="0"/>
          </a:xfrm>
          <a:prstGeom prst="line">
            <a:avLst/>
          </a:prstGeom>
          <a:noFill/>
          <a:ln w="12700">
            <a:solidFill>
              <a:srgbClr val="B9CB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4173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742"/>
                </a:solidFill>
              </a:rPr>
              <a:t>Useful pages to open during training: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1938528"/>
            <a:ext cx="2834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742"/>
                </a:solidFill>
              </a:rPr>
              <a:t>Squish documentation</a:t>
            </a:r>
            <a:endParaRPr lang="en-US" sz="1250" dirty="0"/>
          </a:p>
        </p:txBody>
      </p:sp>
      <p:sp>
        <p:nvSpPr>
          <p:cNvPr id="8" name="Text 6">
            <a:hlinkClick r:id="rId1" tooltip=""/>
          </p:cNvPr>
          <p:cNvSpPr/>
          <p:nvPr/>
        </p:nvSpPr>
        <p:spPr>
          <a:xfrm>
            <a:off x="3749040" y="1938528"/>
            <a:ext cx="7223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u="sng" dirty="0">
                <a:solidFill>
                  <a:srgbClr val="1E5B9A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https://doc.qt.io/squish/index.html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2441448"/>
            <a:ext cx="2834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742"/>
                </a:solidFill>
              </a:rPr>
              <a:t>squishrunner</a:t>
            </a:r>
            <a:endParaRPr lang="en-US" sz="1250" dirty="0"/>
          </a:p>
        </p:txBody>
      </p:sp>
      <p:sp>
        <p:nvSpPr>
          <p:cNvPr id="10" name="Text 8">
            <a:hlinkClick r:id="rId2" tooltip=""/>
          </p:cNvPr>
          <p:cNvSpPr/>
          <p:nvPr/>
        </p:nvSpPr>
        <p:spPr>
          <a:xfrm>
            <a:off x="3749040" y="2441448"/>
            <a:ext cx="7223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u="sng" dirty="0">
                <a:solidFill>
                  <a:srgbClr val="1E5B9A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https://doc.qt.io/squish/cli-squishrunner.html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2944368"/>
            <a:ext cx="2834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742"/>
                </a:solidFill>
              </a:rPr>
              <a:t>squishserver</a:t>
            </a:r>
            <a:endParaRPr lang="en-US" sz="1250" dirty="0"/>
          </a:p>
        </p:txBody>
      </p:sp>
      <p:sp>
        <p:nvSpPr>
          <p:cNvPr id="12" name="Text 10">
            <a:hlinkClick r:id="rId3" tooltip=""/>
          </p:cNvPr>
          <p:cNvSpPr/>
          <p:nvPr/>
        </p:nvSpPr>
        <p:spPr>
          <a:xfrm>
            <a:off x="3749040" y="2944368"/>
            <a:ext cx="7223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u="sng" dirty="0">
                <a:solidFill>
                  <a:srgbClr val="1E5B9A"/>
                </a:solidFill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https://doc.qt.io/squish/cli-squishserver.html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68680" y="3447288"/>
            <a:ext cx="2834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742"/>
                </a:solidFill>
              </a:rPr>
              <a:t>Test Suites view</a:t>
            </a:r>
            <a:endParaRPr lang="en-US" sz="1250" dirty="0"/>
          </a:p>
        </p:txBody>
      </p:sp>
      <p:sp>
        <p:nvSpPr>
          <p:cNvPr id="14" name="Text 12">
            <a:hlinkClick r:id="rId4" tooltip=""/>
          </p:cNvPr>
          <p:cNvSpPr/>
          <p:nvPr/>
        </p:nvSpPr>
        <p:spPr>
          <a:xfrm>
            <a:off x="3749040" y="3447288"/>
            <a:ext cx="7223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u="sng" dirty="0">
                <a:solidFill>
                  <a:srgbClr val="1E5B9A"/>
                </a:solidFill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https://doc.qt.io/squish/test-suites-view.html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8680" y="3950208"/>
            <a:ext cx="2834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742"/>
                </a:solidFill>
              </a:rPr>
              <a:t>Object Map</a:t>
            </a:r>
            <a:endParaRPr lang="en-US" sz="1250" dirty="0"/>
          </a:p>
        </p:txBody>
      </p:sp>
      <p:sp>
        <p:nvSpPr>
          <p:cNvPr id="16" name="Text 14">
            <a:hlinkClick r:id="rId5" tooltip=""/>
          </p:cNvPr>
          <p:cNvSpPr/>
          <p:nvPr/>
        </p:nvSpPr>
        <p:spPr>
          <a:xfrm>
            <a:off x="3749040" y="3950208"/>
            <a:ext cx="7223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u="sng" dirty="0">
                <a:solidFill>
                  <a:srgbClr val="1E5B9A"/>
                </a:solidFill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https://doc.qt.io/squish/object-map.html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68680" y="4453128"/>
            <a:ext cx="2834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742"/>
                </a:solidFill>
              </a:rPr>
              <a:t>Squish for Web tutorial</a:t>
            </a:r>
            <a:endParaRPr lang="en-US" sz="1250" dirty="0"/>
          </a:p>
        </p:txBody>
      </p:sp>
      <p:sp>
        <p:nvSpPr>
          <p:cNvPr id="18" name="Text 16">
            <a:hlinkClick r:id="rId6" tooltip=""/>
          </p:cNvPr>
          <p:cNvSpPr/>
          <p:nvPr/>
        </p:nvSpPr>
        <p:spPr>
          <a:xfrm>
            <a:off x="3749040" y="4453128"/>
            <a:ext cx="7223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u="sng" dirty="0">
                <a:solidFill>
                  <a:srgbClr val="1E5B9A"/>
                </a:solidFill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https://doc.qt.io/squish/squish-for-web-tutorials.html</a:t>
            </a:r>
            <a:endParaRPr lang="en-US" sz="11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692640" y="5212080"/>
            <a:ext cx="1005840" cy="100584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822960" y="5989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6A6"/>
                </a:solidFill>
              </a:rPr>
              <a:t>End of deck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9692640" y="646480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2677A"/>
                </a:solidFill>
              </a:rPr>
              <a:t>Squish Fundamentals | 13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Squish Fundamentals &amp; GUI Automation</dc:title>
  <dc:subject>Squish Fundamentals &amp; GUI Automation</dc:subject>
  <dc:creator>OpenAI</dc:creator>
  <cp:lastModifiedBy>OpenAI</cp:lastModifiedBy>
  <cp:revision>1</cp:revision>
  <dcterms:created xsi:type="dcterms:W3CDTF">2026-09-24T15:00:27Z</dcterms:created>
  <dcterms:modified xsi:type="dcterms:W3CDTF">2026-09-24T15:00:27Z</dcterms:modified>
</cp:coreProperties>
</file>