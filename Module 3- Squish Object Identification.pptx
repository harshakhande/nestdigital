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sldIdLst>
    <p:sldId id="256" r:id="rId2"/>
    <p:sldId id="258" r:id="rId3"/>
    <p:sldId id="261" r:id="rId4"/>
    <p:sldId id="262" r:id="rId5"/>
    <p:sldId id="260" r:id="rId6"/>
    <p:sldId id="263" r:id="rId7"/>
    <p:sldId id="264" r:id="rId8"/>
    <p:sldId id="259" r:id="rId9"/>
    <p:sldId id="266" r:id="rId10"/>
    <p:sldId id="265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126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632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52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139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366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976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885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684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548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011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035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217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671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048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379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600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863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403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2390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411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393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340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6213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488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394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700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882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82562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C29A9DD1-EA95-4627-89D6-DA2908387FB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34BD41EC-324B-4C1E-B818-76628246084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81897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  <p:sldLayoutId id="2147483849" r:id="rId19"/>
    <p:sldLayoutId id="2147483850" r:id="rId20"/>
    <p:sldLayoutId id="2147483851" r:id="rId21"/>
    <p:sldLayoutId id="2147483852" r:id="rId22"/>
    <p:sldLayoutId id="2147483853" r:id="rId23"/>
    <p:sldLayoutId id="2147483854" r:id="rId24"/>
    <p:sldLayoutId id="2147483855" r:id="rId25"/>
    <p:sldLayoutId id="2147483856" r:id="rId26"/>
    <p:sldLayoutId id="2147483857" r:id="rId27"/>
    <p:sldLayoutId id="214748385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1F710-D723-DE35-19AF-01C692068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940184"/>
          </a:xfrm>
        </p:spPr>
        <p:txBody>
          <a:bodyPr/>
          <a:lstStyle/>
          <a:p>
            <a:r>
              <a:rPr lang="en-IN" dirty="0"/>
              <a:t>Object Identification in squish</a:t>
            </a:r>
          </a:p>
        </p:txBody>
      </p:sp>
    </p:spTree>
    <p:extLst>
      <p:ext uri="{BB962C8B-B14F-4D97-AF65-F5344CB8AC3E}">
        <p14:creationId xmlns:p14="http://schemas.microsoft.com/office/powerpoint/2010/main" val="1303447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FB083-5CE2-F3FA-32F9-1FC9E3C4D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5001C-E4D7-BB62-A150-72575FEF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MAP in squish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7D7184-A60A-D98F-0B23-06789B608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78" y="1452355"/>
            <a:ext cx="11253668" cy="4700761"/>
          </a:xfrm>
        </p:spPr>
        <p:txBody>
          <a:bodyPr>
            <a:normAutofit/>
          </a:bodyPr>
          <a:lstStyle/>
          <a:p>
            <a:r>
              <a:rPr lang="en-IN" sz="2000" b="1" dirty="0"/>
              <a:t>The Object Map is the central place where Squish stores the information needed to identify GUI objects in the Application Under Test (AUT).</a:t>
            </a:r>
          </a:p>
          <a:p>
            <a:r>
              <a:rPr lang="en-IN" sz="2000" b="1" dirty="0"/>
              <a:t>Instead of putting long object-property definitions directly into every test script, Squish can store them in the Object Map and give each object a readable symbolic name.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296501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16AB7-DEE9-62E5-E724-E9253CC70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F055-33BA-08AC-0EBF-120904C5D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MAP in squish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BFD967-1777-0C51-2044-FA1A68774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78" y="1452355"/>
            <a:ext cx="11253668" cy="4700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Simple example</a:t>
            </a:r>
          </a:p>
          <a:p>
            <a:r>
              <a:rPr lang="en-IN" sz="2000" b="1" dirty="0"/>
              <a:t>Suppose your application contains a Login button.</a:t>
            </a:r>
          </a:p>
          <a:p>
            <a:r>
              <a:rPr lang="en-IN" sz="2000" b="1" dirty="0"/>
              <a:t>Squish may create:</a:t>
            </a:r>
          </a:p>
          <a:p>
            <a:r>
              <a:rPr lang="en-IN" b="1" dirty="0"/>
              <a:t>Symbolic Name:</a:t>
            </a:r>
          </a:p>
          <a:p>
            <a:r>
              <a:rPr lang="en-IN" b="1" dirty="0" err="1"/>
              <a:t>names.loginButton</a:t>
            </a:r>
            <a:endParaRPr lang="en-IN" b="1" dirty="0"/>
          </a:p>
          <a:p>
            <a:r>
              <a:rPr lang="en-IN" sz="2000" b="1" dirty="0"/>
              <a:t>and map it to a Real Name such as:</a:t>
            </a:r>
          </a:p>
          <a:p>
            <a:r>
              <a:rPr lang="en-IN" b="1" dirty="0"/>
              <a:t>type = </a:t>
            </a:r>
            <a:r>
              <a:rPr lang="en-IN" b="1" dirty="0" err="1"/>
              <a:t>QPushButton</a:t>
            </a:r>
            <a:endParaRPr lang="en-IN" b="1" dirty="0"/>
          </a:p>
          <a:p>
            <a:r>
              <a:rPr lang="en-IN" b="1" dirty="0"/>
              <a:t>text = Login</a:t>
            </a:r>
          </a:p>
          <a:p>
            <a:r>
              <a:rPr lang="en-IN" b="1" dirty="0"/>
              <a:t>visible = true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78677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1B099-B18C-5354-B6E1-AC71C2FF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E1E-C898-346C-D4E2-56563B10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MAP in squish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B25F3CB0-2708-B7CF-767E-8D2C8D3C35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6400" y="2431256"/>
          <a:ext cx="1124108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0544">
                  <a:extLst>
                    <a:ext uri="{9D8B030D-6E8A-4147-A177-3AD203B41FA5}">
                      <a16:colId xmlns:a16="http://schemas.microsoft.com/office/drawing/2014/main" val="3516526239"/>
                    </a:ext>
                  </a:extLst>
                </a:gridCol>
                <a:gridCol w="5620544">
                  <a:extLst>
                    <a:ext uri="{9D8B030D-6E8A-4147-A177-3AD203B41FA5}">
                      <a16:colId xmlns:a16="http://schemas.microsoft.com/office/drawing/2014/main" val="14680181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121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Symbolic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User-friendly logical name used in the test 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058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Properties Squish uses to locate the real GUI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02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Properties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Attributes such as type, text, name, visible, window,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359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How a property should be matched, such as Exact or Wildcard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872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Hierarchy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Shows symbolic objects in a parent-child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3900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649C3FE-76F8-85B0-B36B-D03592B157D4}"/>
              </a:ext>
            </a:extLst>
          </p:cNvPr>
          <p:cNvSpPr txBox="1"/>
          <p:nvPr/>
        </p:nvSpPr>
        <p:spPr>
          <a:xfrm>
            <a:off x="399679" y="165207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Main parts of the Object Map</a:t>
            </a:r>
          </a:p>
        </p:txBody>
      </p:sp>
    </p:spTree>
    <p:extLst>
      <p:ext uri="{BB962C8B-B14F-4D97-AF65-F5344CB8AC3E}">
        <p14:creationId xmlns:p14="http://schemas.microsoft.com/office/powerpoint/2010/main" val="3924153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E1101-3151-72AB-DD8E-4A75D7F8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93422-9F94-3A54-B757-97A841D0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names and properties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12A798-953D-5F77-A7A8-1A656F830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78" y="1452355"/>
            <a:ext cx="11253668" cy="4700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Object Name</a:t>
            </a:r>
          </a:p>
          <a:p>
            <a:r>
              <a:rPr lang="en-IN" sz="2000" dirty="0"/>
              <a:t>An </a:t>
            </a:r>
            <a:r>
              <a:rPr lang="en-IN" sz="2000" b="1" dirty="0"/>
              <a:t>object name</a:t>
            </a:r>
            <a:r>
              <a:rPr lang="en-IN" sz="2000" dirty="0"/>
              <a:t> is the identifier Squish uses to locate a GUI object inside the AUT.</a:t>
            </a:r>
          </a:p>
          <a:p>
            <a:r>
              <a:rPr lang="en-IN" sz="2000" dirty="0"/>
              <a:t>For example, suppose your application has:</a:t>
            </a:r>
          </a:p>
          <a:p>
            <a:r>
              <a:rPr lang="en-IN" dirty="0"/>
              <a:t>Login Window</a:t>
            </a:r>
          </a:p>
          <a:p>
            <a:r>
              <a:rPr lang="en-IN" dirty="0"/>
              <a:t>   ├── Username field</a:t>
            </a:r>
          </a:p>
          <a:p>
            <a:r>
              <a:rPr lang="en-IN" dirty="0"/>
              <a:t>   ├── Password field</a:t>
            </a:r>
          </a:p>
          <a:p>
            <a:r>
              <a:rPr lang="en-IN" dirty="0"/>
              <a:t>   └── Login button</a:t>
            </a:r>
          </a:p>
          <a:p>
            <a:pPr marL="0" indent="0">
              <a:buNone/>
            </a:pPr>
            <a:r>
              <a:rPr lang="en-IN" sz="2000" dirty="0"/>
              <a:t>A symbolic object name could be:</a:t>
            </a:r>
          </a:p>
          <a:p>
            <a:r>
              <a:rPr lang="en-IN" dirty="0" err="1"/>
              <a:t>names.loginButton</a:t>
            </a:r>
            <a:endParaRPr lang="en-IN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625582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EC11D-9937-E3B4-C2CA-1BA12B52C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4B89-667C-1F61-A478-91D132BF7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8" y="-205037"/>
            <a:ext cx="11253667" cy="909921"/>
          </a:xfrm>
        </p:spPr>
        <p:txBody>
          <a:bodyPr/>
          <a:lstStyle/>
          <a:p>
            <a:r>
              <a:rPr lang="en-IN" dirty="0"/>
              <a:t>Object names and properties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8C9B3E-ADA6-A11E-6365-10991E4AF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78" y="821419"/>
            <a:ext cx="11253668" cy="50490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800" b="1" dirty="0"/>
              <a:t>2. Object Properties</a:t>
            </a:r>
          </a:p>
          <a:p>
            <a:r>
              <a:rPr lang="en-IN" sz="800" b="1" dirty="0"/>
              <a:t>Properties are characteristics of a GUI object.</a:t>
            </a:r>
          </a:p>
          <a:p>
            <a:r>
              <a:rPr lang="en-IN" sz="800" b="1" dirty="0"/>
              <a:t>For a Login button, Squish might see:</a:t>
            </a:r>
          </a:p>
          <a:p>
            <a:r>
              <a:rPr lang="en-IN" sz="800" b="1" dirty="0"/>
              <a:t>type      = </a:t>
            </a:r>
            <a:r>
              <a:rPr lang="en-IN" sz="800" b="1" dirty="0" err="1"/>
              <a:t>QPushButton</a:t>
            </a:r>
            <a:endParaRPr lang="en-IN" sz="800" b="1" dirty="0"/>
          </a:p>
          <a:p>
            <a:r>
              <a:rPr lang="en-IN" sz="800" b="1" dirty="0"/>
              <a:t>name      = </a:t>
            </a:r>
            <a:r>
              <a:rPr lang="en-IN" sz="800" b="1" dirty="0" err="1"/>
              <a:t>loginButton</a:t>
            </a:r>
            <a:endParaRPr lang="en-IN" sz="800" b="1" dirty="0"/>
          </a:p>
          <a:p>
            <a:r>
              <a:rPr lang="en-IN" sz="800" b="1" dirty="0"/>
              <a:t>text      = Login</a:t>
            </a:r>
          </a:p>
          <a:p>
            <a:r>
              <a:rPr lang="en-IN" sz="800" b="1" dirty="0"/>
              <a:t>visible   = true</a:t>
            </a:r>
          </a:p>
          <a:p>
            <a:r>
              <a:rPr lang="en-IN" sz="800" b="1" dirty="0"/>
              <a:t>enabled   = true</a:t>
            </a:r>
          </a:p>
          <a:p>
            <a:r>
              <a:rPr lang="en-IN" sz="800" b="1" dirty="0"/>
              <a:t>These properties help Squish determine which GUI object you mean.</a:t>
            </a:r>
          </a:p>
          <a:p>
            <a:r>
              <a:rPr lang="en-IN" sz="800" b="1" dirty="0"/>
              <a:t>For example:</a:t>
            </a:r>
          </a:p>
          <a:p>
            <a:r>
              <a:rPr lang="en-IN" sz="800" b="1" dirty="0" err="1"/>
              <a:t>loginButton</a:t>
            </a:r>
            <a:r>
              <a:rPr lang="en-IN" sz="800" b="1" dirty="0"/>
              <a:t> = {</a:t>
            </a:r>
          </a:p>
          <a:p>
            <a:r>
              <a:rPr lang="en-IN" sz="800" b="1" dirty="0"/>
              <a:t>    "type": "</a:t>
            </a:r>
            <a:r>
              <a:rPr lang="en-IN" sz="800" b="1" dirty="0" err="1"/>
              <a:t>QPushButton</a:t>
            </a:r>
            <a:r>
              <a:rPr lang="en-IN" sz="800" b="1" dirty="0"/>
              <a:t>",</a:t>
            </a:r>
          </a:p>
          <a:p>
            <a:r>
              <a:rPr lang="en-IN" sz="800" b="1" dirty="0"/>
              <a:t>    "text": "Login",</a:t>
            </a:r>
          </a:p>
          <a:p>
            <a:r>
              <a:rPr lang="en-IN" sz="800" b="1" dirty="0"/>
              <a:t>    "visible": 1</a:t>
            </a:r>
          </a:p>
          <a:p>
            <a:r>
              <a:rPr lang="en-IN" sz="800" b="1" dirty="0"/>
              <a:t>}</a:t>
            </a:r>
          </a:p>
          <a:p>
            <a:r>
              <a:rPr lang="en-IN" sz="800" b="1" dirty="0"/>
              <a:t>Then:</a:t>
            </a:r>
          </a:p>
          <a:p>
            <a:r>
              <a:rPr lang="en-IN" sz="800" b="1" dirty="0"/>
              <a:t>button = </a:t>
            </a:r>
            <a:r>
              <a:rPr lang="en-IN" sz="800" b="1" dirty="0" err="1"/>
              <a:t>waitForObject</a:t>
            </a:r>
            <a:r>
              <a:rPr lang="en-IN" sz="800" b="1" dirty="0"/>
              <a:t>(</a:t>
            </a:r>
            <a:r>
              <a:rPr lang="en-IN" sz="800" b="1" dirty="0" err="1"/>
              <a:t>loginButton</a:t>
            </a:r>
            <a:r>
              <a:rPr lang="en-IN" sz="800" b="1" dirty="0"/>
              <a:t>)</a:t>
            </a:r>
          </a:p>
          <a:p>
            <a:r>
              <a:rPr lang="en-IN" sz="800" b="1" dirty="0"/>
              <a:t>This is a real name / multi-property name. Squish searches for an object whose properties match those values. </a:t>
            </a:r>
          </a:p>
          <a:p>
            <a:endParaRPr lang="en-IN" sz="800" b="1" dirty="0"/>
          </a:p>
        </p:txBody>
      </p:sp>
    </p:spTree>
    <p:extLst>
      <p:ext uri="{BB962C8B-B14F-4D97-AF65-F5344CB8AC3E}">
        <p14:creationId xmlns:p14="http://schemas.microsoft.com/office/powerpoint/2010/main" val="3607714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BB3BC-F0F6-3A96-9D0E-93557EB7F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E9C22-247A-7F04-C42D-158F4051F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8" y="-205037"/>
            <a:ext cx="11253667" cy="909921"/>
          </a:xfrm>
        </p:spPr>
        <p:txBody>
          <a:bodyPr/>
          <a:lstStyle/>
          <a:p>
            <a:r>
              <a:rPr lang="en-IN" dirty="0"/>
              <a:t>Object names and properties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AF02DBF-964D-EA43-9BD9-0336A7A57A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4090568"/>
              </p:ext>
            </p:extLst>
          </p:nvPr>
        </p:nvGraphicFramePr>
        <p:xfrm>
          <a:off x="552704" y="2577560"/>
          <a:ext cx="11241087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7029">
                  <a:extLst>
                    <a:ext uri="{9D8B030D-6E8A-4147-A177-3AD203B41FA5}">
                      <a16:colId xmlns:a16="http://schemas.microsoft.com/office/drawing/2014/main" val="4006092739"/>
                    </a:ext>
                  </a:extLst>
                </a:gridCol>
                <a:gridCol w="3747029">
                  <a:extLst>
                    <a:ext uri="{9D8B030D-6E8A-4147-A177-3AD203B41FA5}">
                      <a16:colId xmlns:a16="http://schemas.microsoft.com/office/drawing/2014/main" val="1499144618"/>
                    </a:ext>
                  </a:extLst>
                </a:gridCol>
                <a:gridCol w="3747029">
                  <a:extLst>
                    <a:ext uri="{9D8B030D-6E8A-4147-A177-3AD203B41FA5}">
                      <a16:colId xmlns:a16="http://schemas.microsoft.com/office/drawing/2014/main" val="9142692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043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Type/class of GUI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QPushButton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768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Developer-assigned object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loginButton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760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 displayed on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1142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Whether object is visible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771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enabled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Whether user can interact with 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669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Checkbox/radio-button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404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Current value of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3161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currentText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Current ComboBox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811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Window/dialog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9940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Parent/container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loginWindow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2682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03D4B92-4B9F-C75B-8209-2CC6BBA459A7}"/>
              </a:ext>
            </a:extLst>
          </p:cNvPr>
          <p:cNvSpPr txBox="1"/>
          <p:nvPr/>
        </p:nvSpPr>
        <p:spPr>
          <a:xfrm>
            <a:off x="552704" y="1449431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Common Object Properties</a:t>
            </a:r>
          </a:p>
          <a:p>
            <a:pPr>
              <a:buNone/>
            </a:pPr>
            <a:r>
              <a:rPr lang="en-IN" dirty="0"/>
              <a:t>The exact properties available depend on the GUI technology being automated.</a:t>
            </a:r>
          </a:p>
        </p:txBody>
      </p:sp>
    </p:spTree>
    <p:extLst>
      <p:ext uri="{BB962C8B-B14F-4D97-AF65-F5344CB8AC3E}">
        <p14:creationId xmlns:p14="http://schemas.microsoft.com/office/powerpoint/2010/main" val="290247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6CCEC-1F67-5DB5-ABD1-9058DC827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3145-872F-76C4-AC0E-612E057AC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Hierarchy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9F9DDF-5FBE-7244-5A07-5C686FB08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78" y="1452355"/>
            <a:ext cx="4364346" cy="4700761"/>
          </a:xfrm>
        </p:spPr>
        <p:txBody>
          <a:bodyPr>
            <a:normAutofit/>
          </a:bodyPr>
          <a:lstStyle/>
          <a:p>
            <a:r>
              <a:rPr lang="en-IN" sz="2000" b="1" dirty="0"/>
              <a:t>Application</a:t>
            </a:r>
          </a:p>
          <a:p>
            <a:r>
              <a:rPr lang="en-IN" sz="2000" b="1" dirty="0"/>
              <a:t>   └── Login Window</a:t>
            </a:r>
          </a:p>
          <a:p>
            <a:r>
              <a:rPr lang="en-IN" sz="2000" b="1" dirty="0"/>
              <a:t>        ├── Username Label</a:t>
            </a:r>
          </a:p>
          <a:p>
            <a:r>
              <a:rPr lang="en-IN" sz="2000" b="1" dirty="0"/>
              <a:t>        ├── Username Text Field</a:t>
            </a:r>
          </a:p>
          <a:p>
            <a:r>
              <a:rPr lang="en-IN" sz="2000" b="1" dirty="0"/>
              <a:t>        ├── Password Label</a:t>
            </a:r>
          </a:p>
          <a:p>
            <a:r>
              <a:rPr lang="en-IN" sz="2000" b="1" dirty="0"/>
              <a:t>        ├── Password Text Field</a:t>
            </a:r>
          </a:p>
          <a:p>
            <a:r>
              <a:rPr lang="en-IN" sz="2000" b="1" dirty="0"/>
              <a:t>        └── Login Button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488DDF-074A-25BE-54BA-9573E870B9E2}"/>
              </a:ext>
            </a:extLst>
          </p:cNvPr>
          <p:cNvSpPr txBox="1"/>
          <p:nvPr/>
        </p:nvSpPr>
        <p:spPr>
          <a:xfrm>
            <a:off x="5872734" y="1540577"/>
            <a:ext cx="60944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Application</a:t>
            </a:r>
          </a:p>
          <a:p>
            <a:r>
              <a:rPr lang="en-IN" dirty="0"/>
              <a:t>   │</a:t>
            </a:r>
          </a:p>
          <a:p>
            <a:r>
              <a:rPr lang="en-IN" dirty="0"/>
              <a:t>   └── Main Window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 ├── Menu Bar</a:t>
            </a:r>
          </a:p>
          <a:p>
            <a:r>
              <a:rPr lang="en-IN" dirty="0"/>
              <a:t>        │    ├── File</a:t>
            </a:r>
          </a:p>
          <a:p>
            <a:r>
              <a:rPr lang="en-IN" dirty="0"/>
              <a:t>        │    │    ├── Open</a:t>
            </a:r>
          </a:p>
          <a:p>
            <a:r>
              <a:rPr lang="en-IN" dirty="0"/>
              <a:t>        │    │    └── Save</a:t>
            </a:r>
          </a:p>
          <a:p>
            <a:r>
              <a:rPr lang="en-IN" dirty="0"/>
              <a:t>        │    └── Help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 ├── Login Panel</a:t>
            </a:r>
          </a:p>
          <a:p>
            <a:r>
              <a:rPr lang="en-IN" dirty="0"/>
              <a:t>        │    ├── Username</a:t>
            </a:r>
          </a:p>
          <a:p>
            <a:r>
              <a:rPr lang="en-IN" dirty="0"/>
              <a:t>        │    ├── Password</a:t>
            </a:r>
          </a:p>
          <a:p>
            <a:r>
              <a:rPr lang="en-IN" dirty="0"/>
              <a:t>        │    └── Login Button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 └── Status Bar</a:t>
            </a:r>
          </a:p>
        </p:txBody>
      </p:sp>
    </p:spTree>
    <p:extLst>
      <p:ext uri="{BB962C8B-B14F-4D97-AF65-F5344CB8AC3E}">
        <p14:creationId xmlns:p14="http://schemas.microsoft.com/office/powerpoint/2010/main" val="2079997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9E380-48D8-CA92-9939-EE465C791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B2AE-D769-443C-2FC9-232AEB95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0"/>
            <a:ext cx="11253667" cy="909921"/>
          </a:xfrm>
        </p:spPr>
        <p:txBody>
          <a:bodyPr/>
          <a:lstStyle/>
          <a:p>
            <a:r>
              <a:rPr lang="en-IN" dirty="0"/>
              <a:t>Object Hierarchy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F5D97-03F0-F040-EED9-746D7DCFDCBA}"/>
              </a:ext>
            </a:extLst>
          </p:cNvPr>
          <p:cNvSpPr txBox="1"/>
          <p:nvPr/>
        </p:nvSpPr>
        <p:spPr>
          <a:xfrm>
            <a:off x="399679" y="909921"/>
            <a:ext cx="1002868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Object Map is not always visible by default, so click </a:t>
            </a:r>
            <a:r>
              <a:rPr lang="en-IN" b="1" dirty="0"/>
              <a:t>Object Map</a:t>
            </a:r>
            <a:r>
              <a:rPr lang="en-IN" dirty="0"/>
              <a:t> from the Test Suites view. You can also right-click a symbolic name in your test script and choose </a:t>
            </a:r>
            <a:r>
              <a:rPr lang="en-IN" b="1" dirty="0"/>
              <a:t>Open Symbolic Name</a:t>
            </a:r>
            <a:r>
              <a:rPr lang="en-IN" dirty="0"/>
              <a:t>. </a:t>
            </a:r>
          </a:p>
          <a:p>
            <a:pPr>
              <a:buNone/>
            </a:pPr>
            <a:r>
              <a:rPr lang="en-IN" dirty="0"/>
              <a:t>Then select the object, for example: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 err="1">
                <a:latin typeface="+mn-lt"/>
              </a:rPr>
              <a:t>names.loginButton</a:t>
            </a:r>
            <a:endParaRPr lang="en-IN" dirty="0">
              <a:latin typeface="+mn-lt"/>
            </a:endParaRP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>
              <a:buNone/>
            </a:pPr>
            <a:r>
              <a:rPr lang="en-IN" dirty="0"/>
              <a:t>On the right side, under </a:t>
            </a:r>
            <a:r>
              <a:rPr lang="en-IN" b="1" dirty="0"/>
              <a:t>Real Name</a:t>
            </a:r>
            <a:r>
              <a:rPr lang="en-IN" dirty="0"/>
              <a:t>, you may see: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+mn-lt"/>
              </a:rPr>
              <a:t>Property       Operator       Value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--------------------------------------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type           Equals         </a:t>
            </a:r>
            <a:r>
              <a:rPr lang="en-IN" dirty="0" err="1">
                <a:latin typeface="+mn-lt"/>
              </a:rPr>
              <a:t>QPushButton</a:t>
            </a: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text           Equals         Login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name           Equals         btn_12345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visible        Equals         1</a:t>
            </a:r>
          </a:p>
          <a:p>
            <a:pPr rtl="0">
              <a:buNone/>
            </a:pPr>
            <a:endParaRPr lang="en-IN" dirty="0">
              <a:latin typeface="+mn-lt"/>
            </a:endParaRPr>
          </a:p>
          <a:p>
            <a:pPr>
              <a:buNone/>
            </a:pPr>
            <a:r>
              <a:rPr lang="en-IN" dirty="0"/>
              <a:t>If </a:t>
            </a:r>
            <a:r>
              <a:rPr lang="en-IN" dirty="0">
                <a:latin typeface="+mn-lt"/>
              </a:rPr>
              <a:t>name = btn_12345</a:t>
            </a:r>
            <a:r>
              <a:rPr lang="en-IN" dirty="0"/>
              <a:t> keeps changing, you can either remove that property or edit it.</a:t>
            </a:r>
          </a:p>
          <a:p>
            <a:pPr>
              <a:buNone/>
            </a:pPr>
            <a:r>
              <a:rPr lang="en-IN" dirty="0"/>
              <a:t>For example, change: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name    Equals      btn_12345</a:t>
            </a:r>
          </a:p>
          <a:p>
            <a:pPr>
              <a:buNone/>
            </a:pPr>
            <a:r>
              <a:rPr lang="en-IN" dirty="0"/>
              <a:t>to: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name    Wildcard    </a:t>
            </a:r>
            <a:r>
              <a:rPr lang="en-IN" dirty="0" err="1">
                <a:latin typeface="+mn-lt"/>
              </a:rPr>
              <a:t>btn</a:t>
            </a:r>
            <a:r>
              <a:rPr lang="en-IN" dirty="0">
                <a:latin typeface="+mn-lt"/>
              </a:rPr>
              <a:t>_*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449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D854D-E32E-B350-525F-1CE10CBF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AB603-7FA5-55C8-F1EF-06584454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for stable object identification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7B0441-64FA-2ED7-363C-B6B776BB8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78" y="1452355"/>
            <a:ext cx="11253668" cy="4700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1. Prefer Symbolic Names</a:t>
            </a:r>
          </a:p>
          <a:p>
            <a:r>
              <a:rPr lang="en-IN" sz="2000" dirty="0"/>
              <a:t>Use symbolic names in your test scripts instead of directly writing real names everywhere.</a:t>
            </a:r>
          </a:p>
          <a:p>
            <a:r>
              <a:rPr lang="en-IN" dirty="0" err="1"/>
              <a:t>clickButton</a:t>
            </a:r>
            <a:r>
              <a:rPr lang="en-IN" dirty="0"/>
              <a:t>(</a:t>
            </a:r>
            <a:r>
              <a:rPr lang="en-IN" dirty="0" err="1"/>
              <a:t>waitForObject</a:t>
            </a:r>
            <a:r>
              <a:rPr lang="en-IN" dirty="0"/>
              <a:t>(</a:t>
            </a:r>
            <a:r>
              <a:rPr lang="en-IN" dirty="0" err="1"/>
              <a:t>names.loginButton</a:t>
            </a:r>
            <a:r>
              <a:rPr lang="en-IN" dirty="0"/>
              <a:t>))</a:t>
            </a:r>
          </a:p>
          <a:p>
            <a:r>
              <a:rPr lang="en-IN" sz="2000" dirty="0"/>
              <a:t>instead of:</a:t>
            </a:r>
          </a:p>
          <a:p>
            <a:r>
              <a:rPr lang="en-IN" dirty="0" err="1"/>
              <a:t>clickButton</a:t>
            </a:r>
            <a:r>
              <a:rPr lang="en-IN" dirty="0"/>
              <a:t>(</a:t>
            </a:r>
            <a:r>
              <a:rPr lang="en-IN" dirty="0" err="1"/>
              <a:t>waitForObject</a:t>
            </a:r>
            <a:r>
              <a:rPr lang="en-IN" dirty="0"/>
              <a:t>({</a:t>
            </a:r>
          </a:p>
          <a:p>
            <a:r>
              <a:rPr lang="en-IN" dirty="0"/>
              <a:t>    "type": "</a:t>
            </a:r>
            <a:r>
              <a:rPr lang="en-IN" dirty="0" err="1"/>
              <a:t>QPushButton</a:t>
            </a:r>
            <a:r>
              <a:rPr lang="en-IN" dirty="0"/>
              <a:t>",</a:t>
            </a:r>
          </a:p>
          <a:p>
            <a:r>
              <a:rPr lang="en-IN" dirty="0"/>
              <a:t>    "text": "Login",</a:t>
            </a:r>
          </a:p>
          <a:p>
            <a:r>
              <a:rPr lang="en-IN" dirty="0"/>
              <a:t>    "visible": True</a:t>
            </a:r>
          </a:p>
          <a:p>
            <a:r>
              <a:rPr lang="en-IN" dirty="0"/>
              <a:t>}))</a:t>
            </a:r>
          </a:p>
          <a:p>
            <a:r>
              <a:rPr lang="en-IN" sz="2000" dirty="0"/>
              <a:t>Squish recommends symbolic names because you can update the object definition centrally in the </a:t>
            </a:r>
            <a:r>
              <a:rPr lang="en-IN" sz="2000" b="1" dirty="0"/>
              <a:t>Object Map</a:t>
            </a:r>
            <a:r>
              <a:rPr lang="en-IN" sz="2000" dirty="0"/>
              <a:t> without changing all your test scripts. 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21329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ABBBD-9D32-CEBB-DF55-CEE98734B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77372-9E9B-E04F-FB04-D226CA43B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for stable object identification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A72752-8730-F987-2AA7-943EA0631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78" y="1452355"/>
            <a:ext cx="11253668" cy="47007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000" b="1" dirty="0"/>
              <a:t>2. Use Stable Properties</a:t>
            </a:r>
          </a:p>
          <a:p>
            <a:r>
              <a:rPr lang="en-IN" sz="2000" dirty="0"/>
              <a:t>Choose properties that are unlikely to change between application runs.</a:t>
            </a:r>
          </a:p>
          <a:p>
            <a:r>
              <a:rPr lang="en-IN" sz="2000" dirty="0"/>
              <a:t>Good examples:</a:t>
            </a:r>
          </a:p>
          <a:p>
            <a:r>
              <a:rPr lang="en-IN" dirty="0"/>
              <a:t>type = </a:t>
            </a:r>
            <a:r>
              <a:rPr lang="en-IN" dirty="0" err="1"/>
              <a:t>QPushButton</a:t>
            </a:r>
            <a:endParaRPr lang="en-IN" dirty="0"/>
          </a:p>
          <a:p>
            <a:r>
              <a:rPr lang="en-IN" dirty="0"/>
              <a:t>name = </a:t>
            </a:r>
            <a:r>
              <a:rPr lang="en-IN" dirty="0" err="1"/>
              <a:t>loginButton</a:t>
            </a:r>
            <a:endParaRPr lang="en-IN" dirty="0"/>
          </a:p>
          <a:p>
            <a:r>
              <a:rPr lang="en-IN" dirty="0"/>
              <a:t>text = Login</a:t>
            </a:r>
          </a:p>
          <a:p>
            <a:r>
              <a:rPr lang="en-IN" sz="2000" dirty="0"/>
              <a:t>Avoid values such as:</a:t>
            </a:r>
          </a:p>
          <a:p>
            <a:r>
              <a:rPr lang="en-IN" dirty="0"/>
              <a:t>id = btn_873462</a:t>
            </a:r>
          </a:p>
          <a:p>
            <a:r>
              <a:rPr lang="en-IN" dirty="0" err="1"/>
              <a:t>sessionId</a:t>
            </a:r>
            <a:r>
              <a:rPr lang="en-IN" dirty="0"/>
              <a:t> = 928374</a:t>
            </a:r>
          </a:p>
          <a:p>
            <a:r>
              <a:rPr lang="en-IN" dirty="0"/>
              <a:t>timestamp = 12:47:21</a:t>
            </a:r>
          </a:p>
          <a:p>
            <a:r>
              <a:rPr lang="en-IN" dirty="0"/>
              <a:t>index = 18</a:t>
            </a:r>
          </a:p>
          <a:p>
            <a:r>
              <a:rPr lang="en-IN" sz="2000" dirty="0"/>
              <a:t>if they are generated dynamically.</a:t>
            </a:r>
          </a:p>
          <a:p>
            <a:r>
              <a:rPr lang="en-IN" sz="2000" dirty="0"/>
              <a:t>The ideal object definition contains properties that are both </a:t>
            </a:r>
            <a:r>
              <a:rPr lang="en-IN" sz="2000" b="1" dirty="0"/>
              <a:t>stable and unique</a:t>
            </a:r>
            <a:r>
              <a:rPr lang="en-IN" sz="2000" dirty="0"/>
              <a:t>.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648299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8631B-842A-E0C8-98A8-1CFC6AE0F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63CA7-2708-268E-B9D8-A5F4044B5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for stable object identification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306529-936F-BF5C-F7B2-5C50549C1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78" y="1452355"/>
            <a:ext cx="11253668" cy="470076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2000" b="1" dirty="0"/>
              <a:t>3. Use as Few Properties as Necessary</a:t>
            </a:r>
          </a:p>
          <a:p>
            <a:r>
              <a:rPr lang="en-IN" sz="2000" dirty="0"/>
              <a:t>Do not include every available property.</a:t>
            </a:r>
          </a:p>
          <a:p>
            <a:r>
              <a:rPr lang="en-IN" sz="2000" dirty="0"/>
              <a:t>For example, avoid:</a:t>
            </a:r>
          </a:p>
          <a:p>
            <a:r>
              <a:rPr lang="en-IN" dirty="0"/>
              <a:t>type = </a:t>
            </a:r>
            <a:r>
              <a:rPr lang="en-IN" dirty="0" err="1"/>
              <a:t>QPushButton</a:t>
            </a:r>
            <a:endParaRPr lang="en-IN" dirty="0"/>
          </a:p>
          <a:p>
            <a:r>
              <a:rPr lang="en-IN" dirty="0"/>
              <a:t>name = </a:t>
            </a:r>
            <a:r>
              <a:rPr lang="en-IN" dirty="0" err="1"/>
              <a:t>loginButton</a:t>
            </a:r>
            <a:endParaRPr lang="en-IN" dirty="0"/>
          </a:p>
          <a:p>
            <a:r>
              <a:rPr lang="en-IN" dirty="0"/>
              <a:t>text = Login</a:t>
            </a:r>
          </a:p>
          <a:p>
            <a:r>
              <a:rPr lang="en-IN" dirty="0"/>
              <a:t>visible = true</a:t>
            </a:r>
          </a:p>
          <a:p>
            <a:r>
              <a:rPr lang="en-IN" dirty="0"/>
              <a:t>enabled = true</a:t>
            </a:r>
          </a:p>
          <a:p>
            <a:r>
              <a:rPr lang="en-IN" dirty="0"/>
              <a:t>x = 250</a:t>
            </a:r>
          </a:p>
          <a:p>
            <a:r>
              <a:rPr lang="en-IN" dirty="0"/>
              <a:t>y = 170</a:t>
            </a:r>
          </a:p>
          <a:p>
            <a:r>
              <a:rPr lang="en-IN" dirty="0"/>
              <a:t>width = 100</a:t>
            </a:r>
          </a:p>
          <a:p>
            <a:r>
              <a:rPr lang="en-IN" dirty="0"/>
              <a:t>height = 30</a:t>
            </a:r>
          </a:p>
          <a:p>
            <a:r>
              <a:rPr lang="en-IN" sz="2000" dirty="0"/>
              <a:t>if this is enough:</a:t>
            </a:r>
          </a:p>
          <a:p>
            <a:r>
              <a:rPr lang="en-IN" dirty="0"/>
              <a:t>type = </a:t>
            </a:r>
            <a:r>
              <a:rPr lang="en-IN" dirty="0" err="1"/>
              <a:t>QPushButton</a:t>
            </a:r>
            <a:endParaRPr lang="en-IN" dirty="0"/>
          </a:p>
          <a:p>
            <a:r>
              <a:rPr lang="en-IN" dirty="0"/>
              <a:t>name = </a:t>
            </a:r>
            <a:r>
              <a:rPr lang="en-IN" dirty="0" err="1"/>
              <a:t>loginButton</a:t>
            </a:r>
            <a:endParaRPr lang="en-IN" dirty="0"/>
          </a:p>
          <a:p>
            <a:r>
              <a:rPr lang="en-IN" sz="2000" dirty="0"/>
              <a:t>Every additional property creates another opportunity for the object lookup to break.</a:t>
            </a:r>
          </a:p>
          <a:p>
            <a:r>
              <a:rPr lang="en-IN" sz="2000" dirty="0"/>
              <a:t>Squish's naming strategy tries to balance </a:t>
            </a:r>
            <a:r>
              <a:rPr lang="en-IN" sz="2000" b="1" dirty="0"/>
              <a:t>uniqueness</a:t>
            </a:r>
            <a:r>
              <a:rPr lang="en-IN" sz="2000" dirty="0"/>
              <a:t> with using as few properties as </a:t>
            </a:r>
            <a:r>
              <a:rPr lang="en-IN" sz="2000" dirty="0" err="1"/>
              <a:t>possibl</a:t>
            </a:r>
            <a:endParaRPr lang="en-IN" sz="2000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099506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24864-9086-A9B7-47BF-F86D004F0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EBC1A-41BB-C61E-7897-1842630BF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for stable object identification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34D158-ECC1-5511-FC26-7A33C9A7B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78" y="1452355"/>
            <a:ext cx="11253668" cy="470076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2000" b="1" dirty="0"/>
              <a:t>4. Prefer Developer-Defined Names</a:t>
            </a:r>
          </a:p>
          <a:p>
            <a:r>
              <a:rPr lang="en-IN" sz="2000" dirty="0"/>
              <a:t>If developers assign meaningful object names, use them.</a:t>
            </a:r>
          </a:p>
          <a:p>
            <a:r>
              <a:rPr lang="en-IN" sz="2000" dirty="0"/>
              <a:t>For example:</a:t>
            </a:r>
          </a:p>
          <a:p>
            <a:r>
              <a:rPr lang="en-IN" dirty="0"/>
              <a:t>name = </a:t>
            </a:r>
            <a:r>
              <a:rPr lang="en-IN" dirty="0" err="1"/>
              <a:t>loginButton</a:t>
            </a:r>
            <a:endParaRPr lang="en-IN" dirty="0"/>
          </a:p>
          <a:p>
            <a:r>
              <a:rPr lang="en-IN" dirty="0"/>
              <a:t>type = </a:t>
            </a:r>
            <a:r>
              <a:rPr lang="en-IN" dirty="0" err="1"/>
              <a:t>QPushButton</a:t>
            </a:r>
            <a:endParaRPr lang="en-IN" dirty="0"/>
          </a:p>
          <a:p>
            <a:r>
              <a:rPr lang="en-IN" sz="2000" dirty="0"/>
              <a:t>is usually better than depending on:</a:t>
            </a:r>
          </a:p>
          <a:p>
            <a:r>
              <a:rPr lang="en-IN" dirty="0"/>
              <a:t>x = 318</a:t>
            </a:r>
          </a:p>
          <a:p>
            <a:r>
              <a:rPr lang="en-IN" dirty="0"/>
              <a:t>y = 245</a:t>
            </a:r>
          </a:p>
          <a:p>
            <a:r>
              <a:rPr lang="en-IN" dirty="0"/>
              <a:t>index = 3</a:t>
            </a:r>
          </a:p>
          <a:p>
            <a:r>
              <a:rPr lang="en-IN" sz="2000" dirty="0"/>
              <a:t>Qt's documentation notes that explicitly named objects are often easy to identify using only properties such as </a:t>
            </a:r>
            <a:r>
              <a:rPr lang="en-IN" dirty="0"/>
              <a:t>type</a:t>
            </a:r>
            <a:r>
              <a:rPr lang="en-IN" sz="2000" dirty="0"/>
              <a:t> and </a:t>
            </a:r>
            <a:r>
              <a:rPr lang="en-IN" dirty="0"/>
              <a:t>name</a:t>
            </a:r>
            <a:r>
              <a:rPr lang="en-IN" sz="2000" dirty="0"/>
              <a:t>. </a:t>
            </a:r>
          </a:p>
          <a:p>
            <a:r>
              <a:rPr lang="en-IN" sz="2000" dirty="0"/>
              <a:t>A good development-team convention could be:</a:t>
            </a:r>
          </a:p>
          <a:p>
            <a:r>
              <a:rPr lang="en-IN" dirty="0" err="1"/>
              <a:t>loginButton</a:t>
            </a:r>
            <a:endParaRPr lang="en-IN" dirty="0"/>
          </a:p>
          <a:p>
            <a:r>
              <a:rPr lang="en-IN" dirty="0" err="1"/>
              <a:t>usernameField</a:t>
            </a:r>
            <a:endParaRPr lang="en-IN" dirty="0"/>
          </a:p>
          <a:p>
            <a:r>
              <a:rPr lang="en-IN" dirty="0" err="1"/>
              <a:t>passwordField</a:t>
            </a:r>
            <a:endParaRPr lang="en-IN" dirty="0"/>
          </a:p>
          <a:p>
            <a:r>
              <a:rPr lang="en-IN" dirty="0" err="1"/>
              <a:t>submitButton</a:t>
            </a:r>
            <a:endParaRPr lang="en-IN" dirty="0"/>
          </a:p>
          <a:p>
            <a:r>
              <a:rPr lang="en-IN" dirty="0" err="1"/>
              <a:t>cancelButton</a:t>
            </a:r>
            <a:endParaRPr lang="en-IN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050557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4F0B4-B06D-A1C0-472A-80CE1CDD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02D22-63B1-5333-280A-9276189A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for stable object identification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A93D69-28BC-0523-5A6A-008A6B0EF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78" y="1452355"/>
            <a:ext cx="11253668" cy="4700761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2000" b="1" dirty="0"/>
              <a:t>5. Avoid Position-Based Properties</a:t>
            </a:r>
          </a:p>
          <a:p>
            <a:r>
              <a:rPr lang="en-IN" sz="2000" dirty="0"/>
              <a:t>Try not to identify objects using:</a:t>
            </a:r>
          </a:p>
          <a:p>
            <a:r>
              <a:rPr lang="en-IN" dirty="0"/>
              <a:t>x</a:t>
            </a:r>
          </a:p>
          <a:p>
            <a:r>
              <a:rPr lang="en-IN" dirty="0"/>
              <a:t>y</a:t>
            </a:r>
          </a:p>
          <a:p>
            <a:r>
              <a:rPr lang="en-IN" dirty="0"/>
              <a:t>width</a:t>
            </a:r>
          </a:p>
          <a:p>
            <a:r>
              <a:rPr lang="en-IN" dirty="0"/>
              <a:t>height</a:t>
            </a:r>
          </a:p>
          <a:p>
            <a:r>
              <a:rPr lang="en-IN" sz="2000" dirty="0"/>
              <a:t>These can change because of:</a:t>
            </a:r>
          </a:p>
          <a:p>
            <a:pPr lvl="0"/>
            <a:r>
              <a:rPr lang="en-IN" sz="2000" dirty="0"/>
              <a:t>Screen resolution </a:t>
            </a:r>
          </a:p>
          <a:p>
            <a:pPr lvl="0"/>
            <a:r>
              <a:rPr lang="en-IN" sz="2000" dirty="0"/>
              <a:t>Window resizing </a:t>
            </a:r>
          </a:p>
          <a:p>
            <a:pPr lvl="0"/>
            <a:r>
              <a:rPr lang="en-IN" sz="2000" dirty="0"/>
              <a:t>UI redesign </a:t>
            </a:r>
          </a:p>
          <a:p>
            <a:pPr lvl="0"/>
            <a:r>
              <a:rPr lang="en-IN" sz="2000" dirty="0"/>
              <a:t>Different operating systems </a:t>
            </a:r>
          </a:p>
          <a:p>
            <a:pPr lvl="0"/>
            <a:r>
              <a:rPr lang="en-IN" sz="2000" dirty="0"/>
              <a:t>Font changes </a:t>
            </a:r>
          </a:p>
          <a:p>
            <a:pPr lvl="0"/>
            <a:r>
              <a:rPr lang="en-IN" sz="2000" dirty="0"/>
              <a:t>Localization </a:t>
            </a:r>
          </a:p>
          <a:p>
            <a:r>
              <a:rPr lang="en-IN" sz="2000" dirty="0"/>
              <a:t>For example:</a:t>
            </a:r>
          </a:p>
          <a:p>
            <a:r>
              <a:rPr lang="en-IN" dirty="0"/>
              <a:t>x = 250</a:t>
            </a:r>
          </a:p>
          <a:p>
            <a:r>
              <a:rPr lang="en-IN" dirty="0"/>
              <a:t>y = 300</a:t>
            </a:r>
          </a:p>
          <a:p>
            <a:r>
              <a:rPr lang="en-IN" sz="2000" dirty="0"/>
              <a:t>is usually much less stable than:</a:t>
            </a:r>
          </a:p>
          <a:p>
            <a:r>
              <a:rPr lang="en-IN" dirty="0"/>
              <a:t>type = </a:t>
            </a:r>
            <a:r>
              <a:rPr lang="en-IN" dirty="0" err="1"/>
              <a:t>QPushButton</a:t>
            </a:r>
            <a:endParaRPr lang="en-IN" dirty="0"/>
          </a:p>
          <a:p>
            <a:r>
              <a:rPr lang="en-IN" dirty="0"/>
              <a:t>text = Login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69418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4D29-75FC-6C38-D5AD-A8C17B8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1C4D-9E77-1274-FEA8-95C305E6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for stable object identification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23AE7C-1BFB-476F-B95D-08E82A550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78" y="1452355"/>
            <a:ext cx="11253668" cy="47007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000" b="1" dirty="0"/>
              <a:t>6. Handle Dynamic Properties Carefully</a:t>
            </a:r>
          </a:p>
          <a:p>
            <a:r>
              <a:rPr lang="en-IN" sz="2000" dirty="0"/>
              <a:t>Suppose the object changes from:</a:t>
            </a:r>
          </a:p>
          <a:p>
            <a:r>
              <a:rPr lang="en-IN" dirty="0"/>
              <a:t>name = order_12345</a:t>
            </a:r>
          </a:p>
          <a:p>
            <a:r>
              <a:rPr lang="en-IN" sz="2000" dirty="0"/>
              <a:t>to:</a:t>
            </a:r>
          </a:p>
          <a:p>
            <a:r>
              <a:rPr lang="en-IN" dirty="0"/>
              <a:t>name = order_98372</a:t>
            </a:r>
          </a:p>
          <a:p>
            <a:r>
              <a:rPr lang="en-IN" sz="2000" dirty="0"/>
              <a:t>If possible, remove the dynamic property and use stable ones:</a:t>
            </a:r>
          </a:p>
          <a:p>
            <a:r>
              <a:rPr lang="en-IN" dirty="0"/>
              <a:t>type = </a:t>
            </a:r>
            <a:r>
              <a:rPr lang="en-IN" dirty="0" err="1"/>
              <a:t>QPushButton</a:t>
            </a:r>
            <a:endParaRPr lang="en-IN" dirty="0"/>
          </a:p>
          <a:p>
            <a:r>
              <a:rPr lang="en-IN" dirty="0"/>
              <a:t>text = View Order</a:t>
            </a:r>
          </a:p>
          <a:p>
            <a:r>
              <a:rPr lang="en-IN" sz="2000" dirty="0"/>
              <a:t>If the changing property is required, use a </a:t>
            </a:r>
            <a:r>
              <a:rPr lang="en-IN" sz="2000" b="1" dirty="0"/>
              <a:t>Wildcard</a:t>
            </a:r>
            <a:r>
              <a:rPr lang="en-IN" sz="2000" dirty="0"/>
              <a:t>:</a:t>
            </a:r>
          </a:p>
          <a:p>
            <a:r>
              <a:rPr lang="en-IN" dirty="0"/>
              <a:t>name = order_*</a:t>
            </a:r>
          </a:p>
          <a:p>
            <a:r>
              <a:rPr lang="en-IN" sz="2000" dirty="0"/>
              <a:t>or, for more complex patterns, a regular expression.</a:t>
            </a:r>
          </a:p>
          <a:p>
            <a:r>
              <a:rPr lang="en-IN" sz="2000" dirty="0"/>
              <a:t>Squish supports Exact, Wildcard and Regex matching for most string properties, although properties such as </a:t>
            </a:r>
            <a:r>
              <a:rPr lang="en-IN" dirty="0"/>
              <a:t>type</a:t>
            </a:r>
            <a:r>
              <a:rPr lang="en-IN" sz="2000" dirty="0"/>
              <a:t> require exact matching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788857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3F725-0282-ED74-AF66-D26C958C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71E4-B029-0B9D-3F91-E09A33491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for stable object identification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CBE15B-770E-0DA9-8FC5-B2AC7700E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78" y="1452355"/>
            <a:ext cx="11253668" cy="470076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000" b="1" dirty="0"/>
              <a:t>8. Use Parent / Container Information When Necessary</a:t>
            </a:r>
          </a:p>
          <a:p>
            <a:r>
              <a:rPr lang="en-IN" sz="2000" dirty="0"/>
              <a:t>If there are two identical buttons:</a:t>
            </a:r>
          </a:p>
          <a:p>
            <a:r>
              <a:rPr lang="en-IN" dirty="0"/>
              <a:t>Customer Panel</a:t>
            </a:r>
          </a:p>
          <a:p>
            <a:r>
              <a:rPr lang="en-IN" dirty="0"/>
              <a:t>    └── Save</a:t>
            </a:r>
          </a:p>
          <a:p>
            <a:endParaRPr lang="en-IN" dirty="0"/>
          </a:p>
          <a:p>
            <a:r>
              <a:rPr lang="en-IN" dirty="0"/>
              <a:t>Settings Panel</a:t>
            </a:r>
          </a:p>
          <a:p>
            <a:r>
              <a:rPr lang="en-IN" dirty="0"/>
              <a:t>    └── Save</a:t>
            </a:r>
          </a:p>
          <a:p>
            <a:r>
              <a:rPr lang="en-IN" sz="2000" dirty="0"/>
              <a:t>both may have:</a:t>
            </a:r>
          </a:p>
          <a:p>
            <a:r>
              <a:rPr lang="en-IN" dirty="0"/>
              <a:t>type = </a:t>
            </a:r>
            <a:r>
              <a:rPr lang="en-IN" dirty="0" err="1"/>
              <a:t>QPushButton</a:t>
            </a:r>
            <a:endParaRPr lang="en-IN" dirty="0"/>
          </a:p>
          <a:p>
            <a:r>
              <a:rPr lang="en-IN" dirty="0"/>
              <a:t>text = Save</a:t>
            </a:r>
          </a:p>
          <a:p>
            <a:r>
              <a:rPr lang="en-IN" sz="2000" dirty="0"/>
              <a:t>Use the parent/container relationship:</a:t>
            </a:r>
          </a:p>
          <a:p>
            <a:r>
              <a:rPr lang="en-IN" dirty="0"/>
              <a:t>type = </a:t>
            </a:r>
            <a:r>
              <a:rPr lang="en-IN" dirty="0" err="1"/>
              <a:t>QPushButton</a:t>
            </a:r>
            <a:endParaRPr lang="en-IN" dirty="0"/>
          </a:p>
          <a:p>
            <a:r>
              <a:rPr lang="en-IN" dirty="0"/>
              <a:t>text = Save</a:t>
            </a:r>
          </a:p>
          <a:p>
            <a:r>
              <a:rPr lang="en-IN" dirty="0"/>
              <a:t>container = </a:t>
            </a:r>
            <a:r>
              <a:rPr lang="en-IN" dirty="0" err="1"/>
              <a:t>CustomerPanel</a:t>
            </a:r>
            <a:endParaRPr lang="en-IN" dirty="0"/>
          </a:p>
          <a:p>
            <a:r>
              <a:rPr lang="en-IN" sz="2000" dirty="0"/>
              <a:t>Squish can use properties such as </a:t>
            </a:r>
            <a:r>
              <a:rPr lang="en-IN" dirty="0"/>
              <a:t>container</a:t>
            </a:r>
            <a:r>
              <a:rPr lang="en-IN" sz="2000" dirty="0"/>
              <a:t> and </a:t>
            </a:r>
            <a:r>
              <a:rPr lang="en-IN" dirty="0"/>
              <a:t>window</a:t>
            </a:r>
            <a:r>
              <a:rPr lang="en-IN" sz="2000" dirty="0"/>
              <a:t> to locate objects across object hierarchies.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35681722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84</TotalTime>
  <Words>1178</Words>
  <Application>Microsoft Office PowerPoint</Application>
  <PresentationFormat>Widescreen</PresentationFormat>
  <Paragraphs>246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Arial Nova Light</vt:lpstr>
      <vt:lpstr>Courier New</vt:lpstr>
      <vt:lpstr>Univers Condensed</vt:lpstr>
      <vt:lpstr>Lines</vt:lpstr>
      <vt:lpstr>Object Identification in squish</vt:lpstr>
      <vt:lpstr>Object MAP in squish</vt:lpstr>
      <vt:lpstr>Object MAP in squish</vt:lpstr>
      <vt:lpstr>Object MAP in squish</vt:lpstr>
      <vt:lpstr>Object names and properties</vt:lpstr>
      <vt:lpstr>Object names and properties</vt:lpstr>
      <vt:lpstr>Object names and properties</vt:lpstr>
      <vt:lpstr>Object Hierarchy</vt:lpstr>
      <vt:lpstr>Object Hierarchy</vt:lpstr>
      <vt:lpstr>Best practices for stable object identification</vt:lpstr>
      <vt:lpstr>Best practices for stable object identification</vt:lpstr>
      <vt:lpstr>Best practices for stable object identification</vt:lpstr>
      <vt:lpstr>Best practices for stable object identification</vt:lpstr>
      <vt:lpstr>Best practices for stable object identification</vt:lpstr>
      <vt:lpstr>Best practices for stable object identification</vt:lpstr>
      <vt:lpstr>Best practices for stable object identification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Patil</dc:creator>
  <cp:lastModifiedBy>Anurag Patil</cp:lastModifiedBy>
  <cp:revision>16</cp:revision>
  <dcterms:created xsi:type="dcterms:W3CDTF">2026-09-25T08:57:48Z</dcterms:created>
  <dcterms:modified xsi:type="dcterms:W3CDTF">2026-09-25T10:22:33Z</dcterms:modified>
</cp:coreProperties>
</file>